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2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F40A-8B1E-4F3E-8A2E-487C903F9DAA}" type="datetimeFigureOut">
              <a:rPr lang="uk-UA" smtClean="0"/>
              <a:t>27.09.26</a:t>
            </a:fld>
            <a:endParaRPr lang="uk-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F3350-8EA0-4850-8B51-02F152C3362B}" type="slidenum">
              <a:rPr lang="uk-UA" smtClean="0"/>
              <a:t>‹#›</a:t>
            </a:fld>
            <a:endParaRPr lang="uk-UA"/>
          </a:p>
        </p:txBody>
      </p:sp>
    </p:spTree>
    <p:extLst>
      <p:ext uri="{BB962C8B-B14F-4D97-AF65-F5344CB8AC3E}">
        <p14:creationId xmlns:p14="http://schemas.microsoft.com/office/powerpoint/2010/main" val="4225393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0:00вЂ“0:20 вЂ” Foreign renters arrive in Poland with income, references and a rental history вЂ” but none of it travels with them. Proof of Rent turns every completed lease into proof the next landlord can trust.</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1</a:t>
            </a:fld>
            <a:endParaRPr lang="uk-UA"/>
          </a:p>
        </p:txBody>
      </p:sp>
    </p:spTree>
    <p:extLst>
      <p:ext uri="{BB962C8B-B14F-4D97-AF65-F5344CB8AC3E}">
        <p14:creationId xmlns:p14="http://schemas.microsoft.com/office/powerpoint/2010/main" val="822103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0:20вЂ“0:48 вЂ” In Poland, foreigners are often rejected outright or asked for a deposit twice as high. A Ukrainian bank statement may be genuine, but the landlord cannot read or verify it. And a PDF says nothing about how the previous lease ended.</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2</a:t>
            </a:fld>
            <a:endParaRPr lang="uk-UA"/>
          </a:p>
        </p:txBody>
      </p:sp>
    </p:spTree>
    <p:extLst>
      <p:ext uri="{BB962C8B-B14F-4D97-AF65-F5344CB8AC3E}">
        <p14:creationId xmlns:p14="http://schemas.microsoft.com/office/powerpoint/2010/main" val="2558117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0:48вЂ“1:14 вЂ” Both sides lose. The landlord lacks a reliable signal. The tenant hands over the money and then has very little leverage if it is withheld. Going to court across a language and legal barrier is rarely realistic.</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3</a:t>
            </a:fld>
            <a:endParaRPr lang="uk-UA"/>
          </a:p>
        </p:txBody>
      </p:sp>
    </p:spTree>
    <p:extLst>
      <p:ext uri="{BB962C8B-B14F-4D97-AF65-F5344CB8AC3E}">
        <p14:creationId xmlns:p14="http://schemas.microsoft.com/office/powerpoint/2010/main" val="2370418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1:14вЂ“1:46 вЂ” Proof of Rent puts only the security deposit into escrow. When the lease ends, the money is returned, split by agreement, or resolved by an arbiter. That verified outcome becomes a portable rent passport.</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4</a:t>
            </a:fld>
            <a:endParaRPr lang="uk-UA"/>
          </a:p>
        </p:txBody>
      </p:sp>
    </p:spTree>
    <p:extLst>
      <p:ext uri="{BB962C8B-B14F-4D97-AF65-F5344CB8AC3E}">
        <p14:creationId xmlns:p14="http://schemas.microsoft.com/office/powerpoint/2010/main" val="1723491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1:46вЂ“2:15 вЂ” The passport does not publish salary, rent or exact deposit amounts. It shows the signal a landlord actually needs: completed leases, payment history, and whether deposits were returned. The record cannot be silently edited and can be verified without our API.</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5</a:t>
            </a:fld>
            <a:endParaRPr lang="uk-UA"/>
          </a:p>
        </p:txBody>
      </p:sp>
    </p:spTree>
    <p:extLst>
      <p:ext uri="{BB962C8B-B14F-4D97-AF65-F5344CB8AC3E}">
        <p14:creationId xmlns:p14="http://schemas.microsoft.com/office/powerpoint/2010/main" val="1204344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2:15вЂ“2:42 вЂ” Blockchain is not decoration here. It removes us as custodian, makes the outcome independently verifiable, and keeps the passport alive even if our company disappears. Our MVP runs on Solana devnet with an Anchor escrow, settlement and dispute flow.</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6</a:t>
            </a:fld>
            <a:endParaRPr lang="uk-UA"/>
          </a:p>
        </p:txBody>
      </p:sp>
    </p:spTree>
    <p:extLst>
      <p:ext uri="{BB962C8B-B14F-4D97-AF65-F5344CB8AC3E}">
        <p14:creationId xmlns:p14="http://schemas.microsoft.com/office/powerpoint/2010/main" val="643212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2:42вЂ“3:00 вЂ” We stop asking foreign renters to start from zero every time they cross a border or change a flat. Proof of Rent protects the deposit today вЂ” and turns it into trust for the next lease. Your rent history. Your proof. [Open the live demo.]</a:t>
            </a:r>
            <a:endParaRPr lang="uk-UA"/>
          </a:p>
        </p:txBody>
      </p:sp>
      <p:sp>
        <p:nvSpPr>
          <p:cNvPr id="4" name="Slide Number Placeholder 3"/>
          <p:cNvSpPr>
            <a:spLocks noGrp="1"/>
          </p:cNvSpPr>
          <p:nvPr>
            <p:ph type="sldNum" sz="quarter" idx="5"/>
          </p:nvPr>
        </p:nvSpPr>
        <p:spPr/>
        <p:txBody>
          <a:bodyPr/>
          <a:lstStyle/>
          <a:p>
            <a:fld id="{D2EF3350-8EA0-4850-8B51-02F152C3362B}" type="slidenum">
              <a:rPr lang="uk-UA" smtClean="0"/>
              <a:t>7</a:t>
            </a:fld>
            <a:endParaRPr lang="uk-UA"/>
          </a:p>
        </p:txBody>
      </p:sp>
    </p:spTree>
    <p:extLst>
      <p:ext uri="{BB962C8B-B14F-4D97-AF65-F5344CB8AC3E}">
        <p14:creationId xmlns:p14="http://schemas.microsoft.com/office/powerpoint/2010/main" val="3044678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C4993-A0BD-36FE-A3E1-F0025F21D6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E498E482-9C83-F5B7-A942-8737204925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C0A97701-0A7B-815A-926C-007ED50D5997}"/>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95468306-8FCA-E08B-B10B-5CC60AD731F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1897D9B0-1EBF-5B2D-8F38-949F4073B620}"/>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3183943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7264-D4AD-07EC-3DB8-BB1D3DB3F908}"/>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826985CB-3AD9-37CC-EB7E-9F048332CD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78F2BFA7-1727-1C4F-26A3-624E0A6DB273}"/>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44CCF1DA-3F0A-5E55-D5A5-B92B5B7B4497}"/>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E9400D15-7E01-DF19-9D32-65CC0A7E305C}"/>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210277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9189-D3B0-2FA3-B1B5-9971FDA313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86990180-B390-E492-1371-539D784377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E5015A-C743-2141-140F-214AA94F3436}"/>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40CBAB04-D787-454A-1AD8-FFEC588EB1A0}"/>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7E3CE4FE-B159-81A4-059B-8CF3026AD0CA}"/>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219624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B8C68-E5EB-977A-480A-E15241C98FDE}"/>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C67F5938-9633-2632-2705-D946D2E384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4BF103D2-936A-C5A3-22D3-3DE9DDC081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68E9A94B-CA9C-5C6E-EEE1-3F71A5CB2DB9}"/>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6" name="Footer Placeholder 5">
            <a:extLst>
              <a:ext uri="{FF2B5EF4-FFF2-40B4-BE49-F238E27FC236}">
                <a16:creationId xmlns:a16="http://schemas.microsoft.com/office/drawing/2014/main" id="{AF7E4226-433B-4276-93C6-904F566E5809}"/>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0F349266-79C9-0D7F-EC50-776476A4A1E3}"/>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89019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6ED5-0E6A-4463-1215-677A17034A38}"/>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6D95B163-62BB-1FE7-FE16-4F1A51438C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163CDA-AC7F-7086-5304-239E80BEC1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C49FCEBE-51FD-EB7F-FD9F-49AACB203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0D9C0D-D66A-623D-0BBB-C48174ECA8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EECE11FD-6691-8AA7-D795-D47BBA55A560}"/>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8" name="Footer Placeholder 7">
            <a:extLst>
              <a:ext uri="{FF2B5EF4-FFF2-40B4-BE49-F238E27FC236}">
                <a16:creationId xmlns:a16="http://schemas.microsoft.com/office/drawing/2014/main" id="{F9A0A8C3-B1C3-BBA8-80B2-17668CD04C85}"/>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FC5B2870-4BBB-8519-1F8B-D55E9056D66F}"/>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424409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0CC1-6DD3-8BA2-296A-A10724020FE3}"/>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10B870EA-051D-0713-DCA8-DA3A54828EDE}"/>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4" name="Footer Placeholder 3">
            <a:extLst>
              <a:ext uri="{FF2B5EF4-FFF2-40B4-BE49-F238E27FC236}">
                <a16:creationId xmlns:a16="http://schemas.microsoft.com/office/drawing/2014/main" id="{EB7A1C32-1B70-4F41-AD68-74A06CE6B609}"/>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7D155F25-F03D-B55E-8867-60AE46E18178}"/>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1348476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1A3F9-DB76-95DB-F542-47540C6B58B2}"/>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3" name="Footer Placeholder 2">
            <a:extLst>
              <a:ext uri="{FF2B5EF4-FFF2-40B4-BE49-F238E27FC236}">
                <a16:creationId xmlns:a16="http://schemas.microsoft.com/office/drawing/2014/main" id="{330C75FC-7620-E7E6-06D5-C23DD661859F}"/>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855ABC83-D1D0-2A6C-02F9-F70FAFCB4B3A}"/>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3008274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B7D0F-E103-ED60-E773-B48335F27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E2B70C1F-52ED-819C-130C-631DB07CA3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F9A9BDA8-1630-FACA-216A-6C84278B8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0D0A3-94A0-47B7-2310-02AD9C882DC4}"/>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6" name="Footer Placeholder 5">
            <a:extLst>
              <a:ext uri="{FF2B5EF4-FFF2-40B4-BE49-F238E27FC236}">
                <a16:creationId xmlns:a16="http://schemas.microsoft.com/office/drawing/2014/main" id="{509330DE-B202-898F-0A75-78B3D0836A67}"/>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F0ED31D9-244B-2C40-F7B8-FF5268A0A59F}"/>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19368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B2C0-A4DD-7D6F-B7A5-C46E99B80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169C6235-3C99-3BFA-065A-E3B111AC88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0FA628BC-72CF-A54A-5D56-30E7C4BEF1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9FF57B-92C0-AE34-E37F-5FD68CF1AC8E}"/>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6" name="Footer Placeholder 5">
            <a:extLst>
              <a:ext uri="{FF2B5EF4-FFF2-40B4-BE49-F238E27FC236}">
                <a16:creationId xmlns:a16="http://schemas.microsoft.com/office/drawing/2014/main" id="{4C82401C-2639-7BD5-23BC-9AEEFACE38CE}"/>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AFA4C04D-EEA6-0A75-89B1-9252D04236BB}"/>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371972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5E2BA-E06A-D98A-F5F0-9CFCDAE15BF1}"/>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CF3B34CC-2742-770B-1A71-759A0C077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F64B75BF-672C-133F-1A35-EF08034DE870}"/>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D88B27EA-0D5C-CB6C-EC6A-A51E663F2526}"/>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8CF8E3C9-D13B-E722-C6BF-36F62F97BD6B}"/>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2087330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033E8F-DF9B-D742-5C07-D139F8D937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8C3EFD60-EC3A-95B2-A108-2FE0BFF8B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1A1A4882-E6BD-C11B-09F3-484BB60C8123}"/>
              </a:ext>
            </a:extLst>
          </p:cNvPr>
          <p:cNvSpPr>
            <a:spLocks noGrp="1"/>
          </p:cNvSpPr>
          <p:nvPr>
            <p:ph type="dt" sz="half" idx="10"/>
          </p:nvPr>
        </p:nvSpPr>
        <p:spPr/>
        <p:txBody>
          <a:body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7764398C-B60B-3396-D6B7-B1BF35ECF1AE}"/>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3A7F3F6A-97C4-DB3A-FAEC-379D246BFA24}"/>
              </a:ext>
            </a:extLst>
          </p:cNvPr>
          <p:cNvSpPr>
            <a:spLocks noGrp="1"/>
          </p:cNvSpPr>
          <p:nvPr>
            <p:ph type="sldNum" sz="quarter" idx="12"/>
          </p:nvPr>
        </p:nvSpPr>
        <p:spPr/>
        <p:txBody>
          <a:bodyPr/>
          <a:lstStyle/>
          <a:p>
            <a:fld id="{C8F60080-F4DB-4877-B5BD-9349203B0E0A}" type="slidenum">
              <a:rPr lang="uk-UA" smtClean="0"/>
              <a:t>‹#›</a:t>
            </a:fld>
            <a:endParaRPr lang="uk-UA"/>
          </a:p>
        </p:txBody>
      </p:sp>
    </p:spTree>
    <p:extLst>
      <p:ext uri="{BB962C8B-B14F-4D97-AF65-F5344CB8AC3E}">
        <p14:creationId xmlns:p14="http://schemas.microsoft.com/office/powerpoint/2010/main" val="60947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B1C16-BCB4-0650-5CE4-0C133D64EA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7BC17741-9F1D-0CCA-BDC4-DA34B327DE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8DE4F0AC-F7B3-FE95-1538-7CEBB56234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C9BFE7-2423-48CD-88A7-2F1B49D26F28}" type="datetimeFigureOut">
              <a:rPr lang="uk-UA" smtClean="0"/>
              <a:t>27.09.26</a:t>
            </a:fld>
            <a:endParaRPr lang="uk-UA"/>
          </a:p>
        </p:txBody>
      </p:sp>
      <p:sp>
        <p:nvSpPr>
          <p:cNvPr id="5" name="Footer Placeholder 4">
            <a:extLst>
              <a:ext uri="{FF2B5EF4-FFF2-40B4-BE49-F238E27FC236}">
                <a16:creationId xmlns:a16="http://schemas.microsoft.com/office/drawing/2014/main" id="{C9B69DCA-BC58-6197-80E5-31F42C136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uk-UA"/>
          </a:p>
        </p:txBody>
      </p:sp>
      <p:sp>
        <p:nvSpPr>
          <p:cNvPr id="6" name="Slide Number Placeholder 5">
            <a:extLst>
              <a:ext uri="{FF2B5EF4-FFF2-40B4-BE49-F238E27FC236}">
                <a16:creationId xmlns:a16="http://schemas.microsoft.com/office/drawing/2014/main" id="{7FB7C21F-61B4-78E3-A0D5-6A5EBEC72B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60080-F4DB-4877-B5BD-9349203B0E0A}" type="slidenum">
              <a:rPr lang="uk-UA" smtClean="0"/>
              <a:t>‹#›</a:t>
            </a:fld>
            <a:endParaRPr lang="uk-UA"/>
          </a:p>
        </p:txBody>
      </p:sp>
    </p:spTree>
    <p:extLst>
      <p:ext uri="{BB962C8B-B14F-4D97-AF65-F5344CB8AC3E}">
        <p14:creationId xmlns:p14="http://schemas.microsoft.com/office/powerpoint/2010/main" val="1839560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D6A247B7-3E82-1B90-E5B6-D0A826AAF56D}"/>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00ADA76-24DC-F7AE-7FA2-105AEA7D4795}"/>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DDAA4124-288A-66C9-2311-91259BF5062F}"/>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1</a:t>
            </a:r>
          </a:p>
        </p:txBody>
      </p:sp>
      <p:sp>
        <p:nvSpPr>
          <p:cNvPr id="5" name="Rectangle: Rounded Corners 4">
            <a:extLst>
              <a:ext uri="{FF2B5EF4-FFF2-40B4-BE49-F238E27FC236}">
                <a16:creationId xmlns:a16="http://schemas.microsoft.com/office/drawing/2014/main" id="{90A3F3CD-762D-AD87-2458-B2AC8E97D149}"/>
              </a:ext>
            </a:extLst>
          </p:cNvPr>
          <p:cNvSpPr/>
          <p:nvPr/>
        </p:nvSpPr>
        <p:spPr>
          <a:xfrm>
            <a:off x="571500" y="431800"/>
            <a:ext cx="431800" cy="431800"/>
          </a:xfrm>
          <a:prstGeom prst="roundRect">
            <a:avLst/>
          </a:prstGeom>
          <a:solidFill>
            <a:srgbClr val="FF4A1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6" name="TextBox 5">
            <a:extLst>
              <a:ext uri="{FF2B5EF4-FFF2-40B4-BE49-F238E27FC236}">
                <a16:creationId xmlns:a16="http://schemas.microsoft.com/office/drawing/2014/main" id="{B131C16F-4EF4-227F-829E-7EF2C463B0E0}"/>
              </a:ext>
            </a:extLst>
          </p:cNvPr>
          <p:cNvSpPr txBox="1"/>
          <p:nvPr/>
        </p:nvSpPr>
        <p:spPr>
          <a:xfrm>
            <a:off x="647700" y="546100"/>
            <a:ext cx="279400" cy="165100"/>
          </a:xfrm>
          <a:prstGeom prst="rect">
            <a:avLst/>
          </a:prstGeom>
          <a:noFill/>
        </p:spPr>
        <p:txBody>
          <a:bodyPr vert="horz" wrap="square" lIns="0" tIns="0" rIns="0" bIns="0" rtlCol="0">
            <a:noAutofit/>
          </a:bodyPr>
          <a:lstStyle/>
          <a:p>
            <a:pPr algn="ctr"/>
            <a:r>
              <a:rPr lang="en-US" sz="800" b="1">
                <a:solidFill>
                  <a:srgbClr val="111111"/>
                </a:solidFill>
                <a:latin typeface="Aptos" panose="020B0004020202020204" pitchFamily="34" charset="0"/>
              </a:rPr>
              <a:t>OK</a:t>
            </a:r>
            <a:endParaRPr lang="uk-UA" sz="800" b="1">
              <a:solidFill>
                <a:srgbClr val="111111"/>
              </a:solidFill>
              <a:latin typeface="Aptos" panose="020B0004020202020204" pitchFamily="34" charset="0"/>
            </a:endParaRPr>
          </a:p>
        </p:txBody>
      </p:sp>
      <p:sp>
        <p:nvSpPr>
          <p:cNvPr id="7" name="TextBox 6">
            <a:extLst>
              <a:ext uri="{FF2B5EF4-FFF2-40B4-BE49-F238E27FC236}">
                <a16:creationId xmlns:a16="http://schemas.microsoft.com/office/drawing/2014/main" id="{EA63171E-BC68-61B3-D3A6-6CB886B1CBDA}"/>
              </a:ext>
            </a:extLst>
          </p:cNvPr>
          <p:cNvSpPr txBox="1"/>
          <p:nvPr/>
        </p:nvSpPr>
        <p:spPr>
          <a:xfrm>
            <a:off x="1130300" y="507999"/>
            <a:ext cx="1905000" cy="279400"/>
          </a:xfrm>
          <a:prstGeom prst="rect">
            <a:avLst/>
          </a:prstGeom>
          <a:noFill/>
        </p:spPr>
        <p:txBody>
          <a:bodyPr vert="horz" wrap="square" lIns="0" tIns="0" rIns="0" bIns="0" rtlCol="0">
            <a:noAutofit/>
          </a:bodyPr>
          <a:lstStyle/>
          <a:p>
            <a:r>
              <a:rPr lang="en-US" sz="1500" b="1">
                <a:solidFill>
                  <a:srgbClr val="111111"/>
                </a:solidFill>
                <a:latin typeface="Aptos" panose="020B0004020202020204" pitchFamily="34" charset="0"/>
              </a:rPr>
              <a:t>Proof of Rent</a:t>
            </a:r>
            <a:endParaRPr lang="uk-UA" sz="1500" b="1">
              <a:solidFill>
                <a:srgbClr val="111111"/>
              </a:solidFill>
              <a:latin typeface="Aptos" panose="020B0004020202020204" pitchFamily="34" charset="0"/>
            </a:endParaRPr>
          </a:p>
        </p:txBody>
      </p:sp>
      <p:sp>
        <p:nvSpPr>
          <p:cNvPr id="8" name="TextBox 7">
            <a:extLst>
              <a:ext uri="{FF2B5EF4-FFF2-40B4-BE49-F238E27FC236}">
                <a16:creationId xmlns:a16="http://schemas.microsoft.com/office/drawing/2014/main" id="{C43C52F5-4FDE-57EF-B764-BE11BB0CCF74}"/>
              </a:ext>
            </a:extLst>
          </p:cNvPr>
          <p:cNvSpPr txBox="1"/>
          <p:nvPr/>
        </p:nvSpPr>
        <p:spPr>
          <a:xfrm>
            <a:off x="596900" y="1371600"/>
            <a:ext cx="3175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HACKATHON PITCH </a:t>
            </a:r>
            <a:r>
              <a:rPr lang="uk-UA" sz="900" b="1">
                <a:solidFill>
                  <a:srgbClr val="C2330C"/>
                </a:solidFill>
                <a:latin typeface="Aptos" panose="020B0004020202020204" pitchFamily="34" charset="0"/>
              </a:rPr>
              <a:t>В· </a:t>
            </a:r>
            <a:r>
              <a:rPr lang="en-US" sz="900" b="1">
                <a:solidFill>
                  <a:srgbClr val="C2330C"/>
                </a:solidFill>
                <a:latin typeface="Aptos" panose="020B0004020202020204" pitchFamily="34" charset="0"/>
              </a:rPr>
              <a:t>POLAND</a:t>
            </a:r>
            <a:endParaRPr lang="uk-UA" sz="900" b="1">
              <a:solidFill>
                <a:srgbClr val="C2330C"/>
              </a:solidFill>
              <a:latin typeface="Aptos" panose="020B0004020202020204" pitchFamily="34" charset="0"/>
            </a:endParaRPr>
          </a:p>
        </p:txBody>
      </p:sp>
      <p:sp>
        <p:nvSpPr>
          <p:cNvPr id="9" name="TextBox 8">
            <a:extLst>
              <a:ext uri="{FF2B5EF4-FFF2-40B4-BE49-F238E27FC236}">
                <a16:creationId xmlns:a16="http://schemas.microsoft.com/office/drawing/2014/main" id="{804CD91B-C29B-432F-8562-D1CC7D828C63}"/>
              </a:ext>
            </a:extLst>
          </p:cNvPr>
          <p:cNvSpPr txBox="1"/>
          <p:nvPr/>
        </p:nvSpPr>
        <p:spPr>
          <a:xfrm>
            <a:off x="571500" y="1689099"/>
            <a:ext cx="6731000" cy="1778000"/>
          </a:xfrm>
          <a:prstGeom prst="rect">
            <a:avLst/>
          </a:prstGeom>
          <a:noFill/>
        </p:spPr>
        <p:txBody>
          <a:bodyPr vert="horz" wrap="square" lIns="0" tIns="0" rIns="0" bIns="0" rtlCol="0">
            <a:noAutofit/>
          </a:bodyPr>
          <a:lstStyle/>
          <a:p>
            <a:r>
              <a:rPr lang="en-US" sz="4300" b="1">
                <a:solidFill>
                  <a:srgbClr val="111111"/>
                </a:solidFill>
                <a:latin typeface="Aptos" panose="020B0004020202020204" pitchFamily="34" charset="0"/>
              </a:rPr>
              <a:t>Your rent history.
Your proof.</a:t>
            </a:r>
            <a:endParaRPr lang="uk-UA" sz="4300" b="1">
              <a:solidFill>
                <a:srgbClr val="111111"/>
              </a:solidFill>
              <a:latin typeface="Aptos" panose="020B0004020202020204" pitchFamily="34" charset="0"/>
            </a:endParaRPr>
          </a:p>
        </p:txBody>
      </p:sp>
      <p:sp>
        <p:nvSpPr>
          <p:cNvPr id="10" name="TextBox 9">
            <a:extLst>
              <a:ext uri="{FF2B5EF4-FFF2-40B4-BE49-F238E27FC236}">
                <a16:creationId xmlns:a16="http://schemas.microsoft.com/office/drawing/2014/main" id="{373860E5-2C9F-6C56-A211-882C8CBE05C2}"/>
              </a:ext>
            </a:extLst>
          </p:cNvPr>
          <p:cNvSpPr txBox="1"/>
          <p:nvPr/>
        </p:nvSpPr>
        <p:spPr>
          <a:xfrm>
            <a:off x="596900" y="3835399"/>
            <a:ext cx="6096000" cy="635000"/>
          </a:xfrm>
          <a:prstGeom prst="rect">
            <a:avLst/>
          </a:prstGeom>
          <a:noFill/>
        </p:spPr>
        <p:txBody>
          <a:bodyPr vert="horz" wrap="square" lIns="0" tIns="0" rIns="0" bIns="0" rtlCol="0">
            <a:noAutofit/>
          </a:bodyPr>
          <a:lstStyle/>
          <a:p>
            <a:r>
              <a:rPr lang="en-US" sz="1900">
                <a:solidFill>
                  <a:srgbClr val="5C5C57"/>
                </a:solidFill>
                <a:latin typeface="Aptos" panose="020B0004020202020204" pitchFamily="34" charset="0"/>
              </a:rPr>
              <a:t>A protected deposit that becomes a portable trust passport.</a:t>
            </a:r>
            <a:endParaRPr lang="uk-UA" sz="1900">
              <a:solidFill>
                <a:srgbClr val="5C5C57"/>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14EE7808-50F9-4A8A-440E-33F517A02336}"/>
              </a:ext>
            </a:extLst>
          </p:cNvPr>
          <p:cNvSpPr/>
          <p:nvPr/>
        </p:nvSpPr>
        <p:spPr>
          <a:xfrm>
            <a:off x="609600" y="4902200"/>
            <a:ext cx="1117600" cy="3175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2" name="TextBox 11">
            <a:extLst>
              <a:ext uri="{FF2B5EF4-FFF2-40B4-BE49-F238E27FC236}">
                <a16:creationId xmlns:a16="http://schemas.microsoft.com/office/drawing/2014/main" id="{A3F5B8C8-ECA0-F21B-1209-076D4DD58000}"/>
              </a:ext>
            </a:extLst>
          </p:cNvPr>
          <p:cNvSpPr txBox="1"/>
          <p:nvPr/>
        </p:nvSpPr>
        <p:spPr>
          <a:xfrm>
            <a:off x="698500" y="4978400"/>
            <a:ext cx="939800" cy="152400"/>
          </a:xfrm>
          <a:prstGeom prst="rect">
            <a:avLst/>
          </a:prstGeom>
          <a:noFill/>
        </p:spPr>
        <p:txBody>
          <a:bodyPr vert="horz" wrap="square" lIns="0" tIns="0" rIns="0" bIns="0" rtlCol="0">
            <a:noAutofit/>
          </a:bodyPr>
          <a:lstStyle/>
          <a:p>
            <a:pPr algn="ctr"/>
            <a:r>
              <a:rPr lang="en-US" sz="850" b="1">
                <a:solidFill>
                  <a:srgbClr val="111111"/>
                </a:solidFill>
                <a:latin typeface="Aptos" panose="020B0004020202020204" pitchFamily="34" charset="0"/>
              </a:rPr>
              <a:t>ESCROW</a:t>
            </a:r>
            <a:endParaRPr lang="uk-UA" sz="850" b="1">
              <a:solidFill>
                <a:srgbClr val="111111"/>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76C06493-A2E2-891C-8561-6DCBC2170D27}"/>
              </a:ext>
            </a:extLst>
          </p:cNvPr>
          <p:cNvSpPr/>
          <p:nvPr/>
        </p:nvSpPr>
        <p:spPr>
          <a:xfrm>
            <a:off x="1854200" y="4902200"/>
            <a:ext cx="990600" cy="3175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4" name="TextBox 13">
            <a:extLst>
              <a:ext uri="{FF2B5EF4-FFF2-40B4-BE49-F238E27FC236}">
                <a16:creationId xmlns:a16="http://schemas.microsoft.com/office/drawing/2014/main" id="{929B9957-01BF-8F33-A02B-21D1DD9BDEC6}"/>
              </a:ext>
            </a:extLst>
          </p:cNvPr>
          <p:cNvSpPr txBox="1"/>
          <p:nvPr/>
        </p:nvSpPr>
        <p:spPr>
          <a:xfrm>
            <a:off x="1943100" y="4978400"/>
            <a:ext cx="812800" cy="152400"/>
          </a:xfrm>
          <a:prstGeom prst="rect">
            <a:avLst/>
          </a:prstGeom>
          <a:noFill/>
        </p:spPr>
        <p:txBody>
          <a:bodyPr vert="horz" wrap="square" lIns="0" tIns="0" rIns="0" bIns="0" rtlCol="0">
            <a:noAutofit/>
          </a:bodyPr>
          <a:lstStyle/>
          <a:p>
            <a:pPr algn="ctr"/>
            <a:r>
              <a:rPr lang="en-US" sz="850" b="1">
                <a:solidFill>
                  <a:srgbClr val="111111"/>
                </a:solidFill>
                <a:latin typeface="Aptos" panose="020B0004020202020204" pitchFamily="34" charset="0"/>
              </a:rPr>
              <a:t>TRUST</a:t>
            </a:r>
            <a:endParaRPr lang="uk-UA" sz="850" b="1">
              <a:solidFill>
                <a:srgbClr val="111111"/>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E494731E-9556-FE86-517A-02FCEA4FC103}"/>
              </a:ext>
            </a:extLst>
          </p:cNvPr>
          <p:cNvSpPr/>
          <p:nvPr/>
        </p:nvSpPr>
        <p:spPr>
          <a:xfrm>
            <a:off x="2971800" y="4902200"/>
            <a:ext cx="1244600" cy="3175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6" name="TextBox 15">
            <a:extLst>
              <a:ext uri="{FF2B5EF4-FFF2-40B4-BE49-F238E27FC236}">
                <a16:creationId xmlns:a16="http://schemas.microsoft.com/office/drawing/2014/main" id="{6D8295CE-B452-E411-7072-29ABBA2C874D}"/>
              </a:ext>
            </a:extLst>
          </p:cNvPr>
          <p:cNvSpPr txBox="1"/>
          <p:nvPr/>
        </p:nvSpPr>
        <p:spPr>
          <a:xfrm>
            <a:off x="3060700" y="4978400"/>
            <a:ext cx="1066800" cy="152400"/>
          </a:xfrm>
          <a:prstGeom prst="rect">
            <a:avLst/>
          </a:prstGeom>
          <a:noFill/>
        </p:spPr>
        <p:txBody>
          <a:bodyPr vert="horz" wrap="square" lIns="0" tIns="0" rIns="0" bIns="0" rtlCol="0">
            <a:noAutofit/>
          </a:bodyPr>
          <a:lstStyle/>
          <a:p>
            <a:pPr algn="ctr"/>
            <a:r>
              <a:rPr lang="en-US" sz="850" b="1">
                <a:solidFill>
                  <a:srgbClr val="111111"/>
                </a:solidFill>
                <a:latin typeface="Aptos" panose="020B0004020202020204" pitchFamily="34" charset="0"/>
              </a:rPr>
              <a:t>ON-CHAIN</a:t>
            </a:r>
            <a:endParaRPr lang="uk-UA" sz="850" b="1">
              <a:solidFill>
                <a:srgbClr val="111111"/>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164283F2-1199-8357-99DE-F3B19CBA6D27}"/>
              </a:ext>
            </a:extLst>
          </p:cNvPr>
          <p:cNvSpPr/>
          <p:nvPr/>
        </p:nvSpPr>
        <p:spPr>
          <a:xfrm>
            <a:off x="8178800" y="1917700"/>
            <a:ext cx="2933700" cy="19939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8" name="TextBox 17">
            <a:extLst>
              <a:ext uri="{FF2B5EF4-FFF2-40B4-BE49-F238E27FC236}">
                <a16:creationId xmlns:a16="http://schemas.microsoft.com/office/drawing/2014/main" id="{5FCD3A86-F0F5-DCF9-E4CE-8070148A61C3}"/>
              </a:ext>
            </a:extLst>
          </p:cNvPr>
          <p:cNvSpPr txBox="1"/>
          <p:nvPr/>
        </p:nvSpPr>
        <p:spPr>
          <a:xfrm>
            <a:off x="8458200" y="2209800"/>
            <a:ext cx="1841500" cy="190500"/>
          </a:xfrm>
          <a:prstGeom prst="rect">
            <a:avLst/>
          </a:prstGeom>
          <a:noFill/>
        </p:spPr>
        <p:txBody>
          <a:bodyPr vert="horz" wrap="square" lIns="0" tIns="0" rIns="0" bIns="0" rtlCol="0">
            <a:noAutofit/>
          </a:bodyPr>
          <a:lstStyle/>
          <a:p>
            <a:r>
              <a:rPr lang="en-US" sz="900" b="1">
                <a:solidFill>
                  <a:srgbClr val="5C5C57"/>
                </a:solidFill>
                <a:latin typeface="Aptos" panose="020B0004020202020204" pitchFamily="34" charset="0"/>
              </a:rPr>
              <a:t>TENANT PASSPORT</a:t>
            </a:r>
            <a:endParaRPr lang="uk-UA" sz="900" b="1">
              <a:solidFill>
                <a:srgbClr val="5C5C57"/>
              </a:solidFill>
              <a:latin typeface="Aptos" panose="020B0004020202020204" pitchFamily="34" charset="0"/>
            </a:endParaRPr>
          </a:p>
        </p:txBody>
      </p:sp>
      <p:sp>
        <p:nvSpPr>
          <p:cNvPr id="19" name="TextBox 18">
            <a:extLst>
              <a:ext uri="{FF2B5EF4-FFF2-40B4-BE49-F238E27FC236}">
                <a16:creationId xmlns:a16="http://schemas.microsoft.com/office/drawing/2014/main" id="{D94B4EF1-B9B2-B832-27F5-FFA4E5ECA207}"/>
              </a:ext>
            </a:extLst>
          </p:cNvPr>
          <p:cNvSpPr txBox="1"/>
          <p:nvPr/>
        </p:nvSpPr>
        <p:spPr>
          <a:xfrm>
            <a:off x="8458200" y="2628899"/>
            <a:ext cx="1600200" cy="508000"/>
          </a:xfrm>
          <a:prstGeom prst="rect">
            <a:avLst/>
          </a:prstGeom>
          <a:noFill/>
        </p:spPr>
        <p:txBody>
          <a:bodyPr vert="horz" wrap="square" lIns="0" tIns="0" rIns="0" bIns="0" rtlCol="0">
            <a:noAutofit/>
          </a:bodyPr>
          <a:lstStyle/>
          <a:p>
            <a:r>
              <a:rPr lang="en-US" sz="2700" b="1">
                <a:solidFill>
                  <a:srgbClr val="C2330C"/>
                </a:solidFill>
                <a:latin typeface="Aptos" panose="020B0004020202020204" pitchFamily="34" charset="0"/>
              </a:rPr>
              <a:t>2 of 2</a:t>
            </a:r>
            <a:endParaRPr lang="uk-UA" sz="2700" b="1">
              <a:solidFill>
                <a:srgbClr val="C2330C"/>
              </a:solidFill>
              <a:latin typeface="Aptos" panose="020B0004020202020204" pitchFamily="34" charset="0"/>
            </a:endParaRPr>
          </a:p>
        </p:txBody>
      </p:sp>
      <p:sp>
        <p:nvSpPr>
          <p:cNvPr id="20" name="TextBox 19">
            <a:extLst>
              <a:ext uri="{FF2B5EF4-FFF2-40B4-BE49-F238E27FC236}">
                <a16:creationId xmlns:a16="http://schemas.microsoft.com/office/drawing/2014/main" id="{CCD61BA7-1CA3-D5CC-4086-5E231E94118B}"/>
              </a:ext>
            </a:extLst>
          </p:cNvPr>
          <p:cNvSpPr txBox="1"/>
          <p:nvPr/>
        </p:nvSpPr>
        <p:spPr>
          <a:xfrm>
            <a:off x="8458200" y="3174999"/>
            <a:ext cx="2159000" cy="304800"/>
          </a:xfrm>
          <a:prstGeom prst="rect">
            <a:avLst/>
          </a:prstGeom>
          <a:noFill/>
        </p:spPr>
        <p:txBody>
          <a:bodyPr vert="horz" wrap="square" lIns="0" tIns="0" rIns="0" bIns="0" rtlCol="0">
            <a:noAutofit/>
          </a:bodyPr>
          <a:lstStyle/>
          <a:p>
            <a:r>
              <a:rPr lang="en-US" sz="1200">
                <a:solidFill>
                  <a:srgbClr val="111111"/>
                </a:solidFill>
                <a:latin typeface="Aptos" panose="020B0004020202020204" pitchFamily="34" charset="0"/>
              </a:rPr>
              <a:t>deposits returned in full</a:t>
            </a:r>
            <a:endParaRPr lang="uk-UA" sz="1200">
              <a:solidFill>
                <a:srgbClr val="111111"/>
              </a:solidFill>
              <a:latin typeface="Aptos" panose="020B0004020202020204" pitchFamily="34" charset="0"/>
            </a:endParaRPr>
          </a:p>
        </p:txBody>
      </p:sp>
      <p:sp>
        <p:nvSpPr>
          <p:cNvPr id="21" name="Oval 20">
            <a:extLst>
              <a:ext uri="{FF2B5EF4-FFF2-40B4-BE49-F238E27FC236}">
                <a16:creationId xmlns:a16="http://schemas.microsoft.com/office/drawing/2014/main" id="{C9C15496-855C-2E9C-3200-5082D994F031}"/>
              </a:ext>
            </a:extLst>
          </p:cNvPr>
          <p:cNvSpPr/>
          <p:nvPr/>
        </p:nvSpPr>
        <p:spPr>
          <a:xfrm>
            <a:off x="10160000" y="2489200"/>
            <a:ext cx="533400" cy="533400"/>
          </a:xfrm>
          <a:prstGeom prst="ellipse">
            <a:avLst/>
          </a:prstGeom>
          <a:solidFill>
            <a:srgbClr val="FF4A1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2" name="TextBox 21">
            <a:extLst>
              <a:ext uri="{FF2B5EF4-FFF2-40B4-BE49-F238E27FC236}">
                <a16:creationId xmlns:a16="http://schemas.microsoft.com/office/drawing/2014/main" id="{1F329CBF-7522-5C86-2EAB-5A23C57B34C7}"/>
              </a:ext>
            </a:extLst>
          </p:cNvPr>
          <p:cNvSpPr txBox="1"/>
          <p:nvPr/>
        </p:nvSpPr>
        <p:spPr>
          <a:xfrm>
            <a:off x="10248900" y="2667000"/>
            <a:ext cx="355600" cy="165100"/>
          </a:xfrm>
          <a:prstGeom prst="rect">
            <a:avLst/>
          </a:prstGeom>
          <a:noFill/>
        </p:spPr>
        <p:txBody>
          <a:bodyPr vert="horz" wrap="square" lIns="0" tIns="0" rIns="0" bIns="0" rtlCol="0">
            <a:noAutofit/>
          </a:bodyPr>
          <a:lstStyle/>
          <a:p>
            <a:pPr algn="ctr"/>
            <a:r>
              <a:rPr lang="en-US" sz="800" b="1">
                <a:solidFill>
                  <a:srgbClr val="111111"/>
                </a:solidFill>
                <a:latin typeface="Aptos" panose="020B0004020202020204" pitchFamily="34" charset="0"/>
              </a:rPr>
              <a:t>OK</a:t>
            </a:r>
            <a:endParaRPr lang="uk-UA" sz="800" b="1">
              <a:solidFill>
                <a:srgbClr val="111111"/>
              </a:solidFill>
              <a:latin typeface="Aptos" panose="020B0004020202020204" pitchFamily="34" charset="0"/>
            </a:endParaRPr>
          </a:p>
        </p:txBody>
      </p:sp>
    </p:spTree>
    <p:extLst>
      <p:ext uri="{BB962C8B-B14F-4D97-AF65-F5344CB8AC3E}">
        <p14:creationId xmlns:p14="http://schemas.microsoft.com/office/powerpoint/2010/main" val="2999283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28C6469-694B-E20B-57BB-D0D6F70FEE4D}"/>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D919577-6C3C-21C8-4DE4-3101D74825E9}"/>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CF7FFC0C-5BE4-2D04-1497-DB9FA646DC3E}"/>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2</a:t>
            </a:r>
          </a:p>
        </p:txBody>
      </p:sp>
      <p:sp>
        <p:nvSpPr>
          <p:cNvPr id="5" name="TextBox 4">
            <a:extLst>
              <a:ext uri="{FF2B5EF4-FFF2-40B4-BE49-F238E27FC236}">
                <a16:creationId xmlns:a16="http://schemas.microsoft.com/office/drawing/2014/main" id="{3C729997-2166-D870-36C3-50A654E801BD}"/>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THE PROBLEM</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6DE62C4D-6AFD-FF73-1202-98F25F4C17FF}"/>
              </a:ext>
            </a:extLst>
          </p:cNvPr>
          <p:cNvSpPr txBox="1"/>
          <p:nvPr/>
        </p:nvSpPr>
        <p:spPr>
          <a:xfrm>
            <a:off x="571500" y="723899"/>
            <a:ext cx="10922000" cy="889000"/>
          </a:xfrm>
          <a:prstGeom prst="rect">
            <a:avLst/>
          </a:prstGeom>
          <a:noFill/>
        </p:spPr>
        <p:txBody>
          <a:bodyPr vert="horz" wrap="square" lIns="0" tIns="0" rIns="0" bIns="0" rtlCol="0">
            <a:noAutofit/>
          </a:bodyPr>
          <a:lstStyle/>
          <a:p>
            <a:r>
              <a:rPr lang="en-US" sz="2900" b="1">
                <a:solidFill>
                  <a:srgbClr val="111111"/>
                </a:solidFill>
                <a:latin typeface="Aptos" panose="020B0004020202020204" pitchFamily="34" charset="0"/>
              </a:rPr>
              <a:t>For foreign renters, вЂњnew countryвЂќ often means вЂњno trust.вЂќ</a:t>
            </a:r>
            <a:endParaRPr lang="uk-UA" sz="2900" b="1">
              <a:solidFill>
                <a:srgbClr val="111111"/>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903E0C1D-6610-80A3-74D1-EEA11DB64FEE}"/>
              </a:ext>
            </a:extLst>
          </p:cNvPr>
          <p:cNvSpPr/>
          <p:nvPr/>
        </p:nvSpPr>
        <p:spPr>
          <a:xfrm>
            <a:off x="596900" y="2032000"/>
            <a:ext cx="3352800" cy="31242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8" name="TextBox 7">
            <a:extLst>
              <a:ext uri="{FF2B5EF4-FFF2-40B4-BE49-F238E27FC236}">
                <a16:creationId xmlns:a16="http://schemas.microsoft.com/office/drawing/2014/main" id="{0E81D194-6EF5-BDD1-60B8-C6E3068118F2}"/>
              </a:ext>
            </a:extLst>
          </p:cNvPr>
          <p:cNvSpPr txBox="1"/>
          <p:nvPr/>
        </p:nvSpPr>
        <p:spPr>
          <a:xfrm>
            <a:off x="850900" y="2298700"/>
            <a:ext cx="4445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01</a:t>
            </a:r>
          </a:p>
        </p:txBody>
      </p:sp>
      <p:sp>
        <p:nvSpPr>
          <p:cNvPr id="9" name="TextBox 8">
            <a:extLst>
              <a:ext uri="{FF2B5EF4-FFF2-40B4-BE49-F238E27FC236}">
                <a16:creationId xmlns:a16="http://schemas.microsoft.com/office/drawing/2014/main" id="{EB819252-97C0-B504-259B-72D0D0780CD4}"/>
              </a:ext>
            </a:extLst>
          </p:cNvPr>
          <p:cNvSpPr txBox="1"/>
          <p:nvPr/>
        </p:nvSpPr>
        <p:spPr>
          <a:xfrm>
            <a:off x="3035300" y="2247899"/>
            <a:ext cx="533400" cy="431800"/>
          </a:xfrm>
          <a:prstGeom prst="rect">
            <a:avLst/>
          </a:prstGeom>
          <a:noFill/>
        </p:spPr>
        <p:txBody>
          <a:bodyPr vert="horz" wrap="square" lIns="0" tIns="0" rIns="0" bIns="0" rtlCol="0">
            <a:noAutofit/>
          </a:bodyPr>
          <a:lstStyle/>
          <a:p>
            <a:pPr algn="ctr"/>
            <a:r>
              <a:rPr lang="en-US" sz="2300" b="1">
                <a:solidFill>
                  <a:srgbClr val="C2330C"/>
                </a:solidFill>
                <a:latin typeface="Aptos" panose="020B0004020202020204" pitchFamily="34" charset="0"/>
              </a:rPr>
              <a:t>X</a:t>
            </a:r>
            <a:endParaRPr lang="uk-UA" sz="2300" b="1">
              <a:solidFill>
                <a:srgbClr val="C2330C"/>
              </a:solidFill>
              <a:latin typeface="Aptos" panose="020B0004020202020204" pitchFamily="34" charset="0"/>
            </a:endParaRPr>
          </a:p>
        </p:txBody>
      </p:sp>
      <p:sp>
        <p:nvSpPr>
          <p:cNvPr id="10" name="TextBox 9">
            <a:extLst>
              <a:ext uri="{FF2B5EF4-FFF2-40B4-BE49-F238E27FC236}">
                <a16:creationId xmlns:a16="http://schemas.microsoft.com/office/drawing/2014/main" id="{1AED728E-B7A4-981B-B0D1-BB74625D7A80}"/>
              </a:ext>
            </a:extLst>
          </p:cNvPr>
          <p:cNvSpPr txBox="1"/>
          <p:nvPr/>
        </p:nvSpPr>
        <p:spPr>
          <a:xfrm>
            <a:off x="850900" y="2959099"/>
            <a:ext cx="2768600" cy="406400"/>
          </a:xfrm>
          <a:prstGeom prst="rect">
            <a:avLst/>
          </a:prstGeom>
          <a:noFill/>
        </p:spPr>
        <p:txBody>
          <a:bodyPr vert="horz" wrap="square" lIns="0" tIns="0" rIns="0" bIns="0" rtlCol="0">
            <a:noAutofit/>
          </a:bodyPr>
          <a:lstStyle/>
          <a:p>
            <a:r>
              <a:rPr lang="en-US" sz="2100" b="1">
                <a:solidFill>
                  <a:srgbClr val="111111"/>
                </a:solidFill>
                <a:latin typeface="Aptos" panose="020B0004020202020204" pitchFamily="34" charset="0"/>
              </a:rPr>
              <a:t>Rejected</a:t>
            </a:r>
            <a:endParaRPr lang="uk-UA" sz="2100" b="1">
              <a:solidFill>
                <a:srgbClr val="111111"/>
              </a:solidFill>
              <a:latin typeface="Aptos" panose="020B0004020202020204" pitchFamily="34" charset="0"/>
            </a:endParaRPr>
          </a:p>
        </p:txBody>
      </p:sp>
      <p:sp>
        <p:nvSpPr>
          <p:cNvPr id="11" name="TextBox 10">
            <a:extLst>
              <a:ext uri="{FF2B5EF4-FFF2-40B4-BE49-F238E27FC236}">
                <a16:creationId xmlns:a16="http://schemas.microsoft.com/office/drawing/2014/main" id="{A22ED016-7DAA-DF6A-A508-95AE9F718620}"/>
              </a:ext>
            </a:extLst>
          </p:cNvPr>
          <p:cNvSpPr txBox="1"/>
          <p:nvPr/>
        </p:nvSpPr>
        <p:spPr>
          <a:xfrm>
            <a:off x="850900" y="3695699"/>
            <a:ext cx="2743200" cy="7874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No Polish rental or credit history</a:t>
            </a:r>
            <a:endParaRPr lang="uk-UA" sz="1400">
              <a:solidFill>
                <a:srgbClr val="5C5C57"/>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20730926-4151-6429-382C-704F91136DC2}"/>
              </a:ext>
            </a:extLst>
          </p:cNvPr>
          <p:cNvSpPr/>
          <p:nvPr/>
        </p:nvSpPr>
        <p:spPr>
          <a:xfrm>
            <a:off x="4419600" y="2032000"/>
            <a:ext cx="3352800" cy="31242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3" name="TextBox 12">
            <a:extLst>
              <a:ext uri="{FF2B5EF4-FFF2-40B4-BE49-F238E27FC236}">
                <a16:creationId xmlns:a16="http://schemas.microsoft.com/office/drawing/2014/main" id="{C51FCA41-5362-634C-FB49-6D2F7ACED122}"/>
              </a:ext>
            </a:extLst>
          </p:cNvPr>
          <p:cNvSpPr txBox="1"/>
          <p:nvPr/>
        </p:nvSpPr>
        <p:spPr>
          <a:xfrm>
            <a:off x="4673600" y="2298700"/>
            <a:ext cx="4445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02</a:t>
            </a:r>
          </a:p>
        </p:txBody>
      </p:sp>
      <p:sp>
        <p:nvSpPr>
          <p:cNvPr id="14" name="TextBox 13">
            <a:extLst>
              <a:ext uri="{FF2B5EF4-FFF2-40B4-BE49-F238E27FC236}">
                <a16:creationId xmlns:a16="http://schemas.microsoft.com/office/drawing/2014/main" id="{4A93AB09-638D-B85B-10F0-B5113F63A9D0}"/>
              </a:ext>
            </a:extLst>
          </p:cNvPr>
          <p:cNvSpPr txBox="1"/>
          <p:nvPr/>
        </p:nvSpPr>
        <p:spPr>
          <a:xfrm>
            <a:off x="6858000" y="2247899"/>
            <a:ext cx="533400" cy="431800"/>
          </a:xfrm>
          <a:prstGeom prst="rect">
            <a:avLst/>
          </a:prstGeom>
          <a:noFill/>
        </p:spPr>
        <p:txBody>
          <a:bodyPr vert="horz" wrap="square" lIns="0" tIns="0" rIns="0" bIns="0" rtlCol="0">
            <a:noAutofit/>
          </a:bodyPr>
          <a:lstStyle/>
          <a:p>
            <a:pPr algn="ctr"/>
            <a:r>
              <a:rPr lang="en-US" sz="2300" b="1">
                <a:solidFill>
                  <a:srgbClr val="C2330C"/>
                </a:solidFill>
                <a:latin typeface="Aptos" panose="020B0004020202020204" pitchFamily="34" charset="0"/>
              </a:rPr>
              <a:t>2X</a:t>
            </a:r>
            <a:endParaRPr lang="uk-UA" sz="2300" b="1">
              <a:solidFill>
                <a:srgbClr val="C2330C"/>
              </a:solidFill>
              <a:latin typeface="Aptos" panose="020B0004020202020204" pitchFamily="34" charset="0"/>
            </a:endParaRPr>
          </a:p>
        </p:txBody>
      </p:sp>
      <p:sp>
        <p:nvSpPr>
          <p:cNvPr id="15" name="TextBox 14">
            <a:extLst>
              <a:ext uri="{FF2B5EF4-FFF2-40B4-BE49-F238E27FC236}">
                <a16:creationId xmlns:a16="http://schemas.microsoft.com/office/drawing/2014/main" id="{7BBD3187-2CD0-9B38-74F6-A6A56F61FCD1}"/>
              </a:ext>
            </a:extLst>
          </p:cNvPr>
          <p:cNvSpPr txBox="1"/>
          <p:nvPr/>
        </p:nvSpPr>
        <p:spPr>
          <a:xfrm>
            <a:off x="4673600" y="2959099"/>
            <a:ext cx="2768600" cy="406400"/>
          </a:xfrm>
          <a:prstGeom prst="rect">
            <a:avLst/>
          </a:prstGeom>
          <a:noFill/>
        </p:spPr>
        <p:txBody>
          <a:bodyPr vert="horz" wrap="square" lIns="0" tIns="0" rIns="0" bIns="0" rtlCol="0">
            <a:noAutofit/>
          </a:bodyPr>
          <a:lstStyle/>
          <a:p>
            <a:r>
              <a:rPr lang="en-US" sz="2100" b="1">
                <a:solidFill>
                  <a:srgbClr val="111111"/>
                </a:solidFill>
                <a:latin typeface="Aptos" panose="020B0004020202020204" pitchFamily="34" charset="0"/>
              </a:rPr>
              <a:t>Double deposit</a:t>
            </a:r>
            <a:endParaRPr lang="uk-UA" sz="2100" b="1">
              <a:solidFill>
                <a:srgbClr val="111111"/>
              </a:solidFill>
              <a:latin typeface="Aptos" panose="020B0004020202020204" pitchFamily="34" charset="0"/>
            </a:endParaRPr>
          </a:p>
        </p:txBody>
      </p:sp>
      <p:sp>
        <p:nvSpPr>
          <p:cNvPr id="16" name="TextBox 15">
            <a:extLst>
              <a:ext uri="{FF2B5EF4-FFF2-40B4-BE49-F238E27FC236}">
                <a16:creationId xmlns:a16="http://schemas.microsoft.com/office/drawing/2014/main" id="{047798F3-2B14-1683-804C-827AFAEE31BF}"/>
              </a:ext>
            </a:extLst>
          </p:cNvPr>
          <p:cNvSpPr txBox="1"/>
          <p:nvPr/>
        </p:nvSpPr>
        <p:spPr>
          <a:xfrm>
            <a:off x="4673600" y="3695699"/>
            <a:ext cx="2743200" cy="7874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Risk is priced into the kaucja</a:t>
            </a:r>
            <a:endParaRPr lang="uk-UA" sz="1400">
              <a:solidFill>
                <a:srgbClr val="5C5C57"/>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5E6F1EF9-FE88-6AB9-75C8-27C6AF35CE8D}"/>
              </a:ext>
            </a:extLst>
          </p:cNvPr>
          <p:cNvSpPr/>
          <p:nvPr/>
        </p:nvSpPr>
        <p:spPr>
          <a:xfrm>
            <a:off x="8242300" y="2032000"/>
            <a:ext cx="3352800" cy="31242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8" name="TextBox 17">
            <a:extLst>
              <a:ext uri="{FF2B5EF4-FFF2-40B4-BE49-F238E27FC236}">
                <a16:creationId xmlns:a16="http://schemas.microsoft.com/office/drawing/2014/main" id="{BDC84A2D-0366-727B-1F8E-690B7EE0F12B}"/>
              </a:ext>
            </a:extLst>
          </p:cNvPr>
          <p:cNvSpPr txBox="1"/>
          <p:nvPr/>
        </p:nvSpPr>
        <p:spPr>
          <a:xfrm>
            <a:off x="8496300" y="2298700"/>
            <a:ext cx="4445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03</a:t>
            </a:r>
          </a:p>
        </p:txBody>
      </p:sp>
      <p:sp>
        <p:nvSpPr>
          <p:cNvPr id="19" name="TextBox 18">
            <a:extLst>
              <a:ext uri="{FF2B5EF4-FFF2-40B4-BE49-F238E27FC236}">
                <a16:creationId xmlns:a16="http://schemas.microsoft.com/office/drawing/2014/main" id="{1DCC4BCC-0AA3-BBCF-3F96-6EDF70F530C4}"/>
              </a:ext>
            </a:extLst>
          </p:cNvPr>
          <p:cNvSpPr txBox="1"/>
          <p:nvPr/>
        </p:nvSpPr>
        <p:spPr>
          <a:xfrm>
            <a:off x="10680700" y="2247899"/>
            <a:ext cx="533400" cy="431800"/>
          </a:xfrm>
          <a:prstGeom prst="rect">
            <a:avLst/>
          </a:prstGeom>
          <a:noFill/>
        </p:spPr>
        <p:txBody>
          <a:bodyPr vert="horz" wrap="square" lIns="0" tIns="0" rIns="0" bIns="0" rtlCol="0">
            <a:noAutofit/>
          </a:bodyPr>
          <a:lstStyle/>
          <a:p>
            <a:pPr algn="ctr"/>
            <a:r>
              <a:rPr lang="uk-UA" sz="2300" b="1">
                <a:solidFill>
                  <a:srgbClr val="C2330C"/>
                </a:solidFill>
                <a:latin typeface="Aptos" panose="020B0004020202020204" pitchFamily="34" charset="0"/>
              </a:rPr>
              <a:t>?</a:t>
            </a:r>
          </a:p>
        </p:txBody>
      </p:sp>
      <p:sp>
        <p:nvSpPr>
          <p:cNvPr id="20" name="TextBox 19">
            <a:extLst>
              <a:ext uri="{FF2B5EF4-FFF2-40B4-BE49-F238E27FC236}">
                <a16:creationId xmlns:a16="http://schemas.microsoft.com/office/drawing/2014/main" id="{59ECDFF5-1282-22F8-F23E-C5EFA355F1AC}"/>
              </a:ext>
            </a:extLst>
          </p:cNvPr>
          <p:cNvSpPr txBox="1"/>
          <p:nvPr/>
        </p:nvSpPr>
        <p:spPr>
          <a:xfrm>
            <a:off x="8496300" y="2959099"/>
            <a:ext cx="2768600" cy="406400"/>
          </a:xfrm>
          <a:prstGeom prst="rect">
            <a:avLst/>
          </a:prstGeom>
          <a:noFill/>
        </p:spPr>
        <p:txBody>
          <a:bodyPr vert="horz" wrap="square" lIns="0" tIns="0" rIns="0" bIns="0" rtlCol="0">
            <a:noAutofit/>
          </a:bodyPr>
          <a:lstStyle/>
          <a:p>
            <a:r>
              <a:rPr lang="en-US" sz="2100" b="1">
                <a:solidFill>
                  <a:srgbClr val="111111"/>
                </a:solidFill>
                <a:latin typeface="Aptos" panose="020B0004020202020204" pitchFamily="34" charset="0"/>
              </a:rPr>
              <a:t>Proof ignored</a:t>
            </a:r>
            <a:endParaRPr lang="uk-UA" sz="2100" b="1">
              <a:solidFill>
                <a:srgbClr val="111111"/>
              </a:solidFill>
              <a:latin typeface="Aptos" panose="020B0004020202020204" pitchFamily="34" charset="0"/>
            </a:endParaRPr>
          </a:p>
        </p:txBody>
      </p:sp>
      <p:sp>
        <p:nvSpPr>
          <p:cNvPr id="21" name="TextBox 20">
            <a:extLst>
              <a:ext uri="{FF2B5EF4-FFF2-40B4-BE49-F238E27FC236}">
                <a16:creationId xmlns:a16="http://schemas.microsoft.com/office/drawing/2014/main" id="{6A0DA5C7-BF8A-4A2D-B09D-649198167249}"/>
              </a:ext>
            </a:extLst>
          </p:cNvPr>
          <p:cNvSpPr txBox="1"/>
          <p:nvPr/>
        </p:nvSpPr>
        <p:spPr>
          <a:xfrm>
            <a:off x="8496300" y="3695699"/>
            <a:ext cx="2743200" cy="7874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Foreign bank statements are unreadable or unverifiable</a:t>
            </a:r>
            <a:endParaRPr lang="uk-UA" sz="1400">
              <a:solidFill>
                <a:srgbClr val="5C5C57"/>
              </a:solidFill>
              <a:latin typeface="Aptos" panose="020B0004020202020204" pitchFamily="34" charset="0"/>
            </a:endParaRPr>
          </a:p>
        </p:txBody>
      </p:sp>
      <p:sp>
        <p:nvSpPr>
          <p:cNvPr id="22" name="TextBox 21">
            <a:extLst>
              <a:ext uri="{FF2B5EF4-FFF2-40B4-BE49-F238E27FC236}">
                <a16:creationId xmlns:a16="http://schemas.microsoft.com/office/drawing/2014/main" id="{CF2882F1-7245-FC24-0794-D4BBC7818CA0}"/>
              </a:ext>
            </a:extLst>
          </p:cNvPr>
          <p:cNvSpPr txBox="1"/>
          <p:nvPr/>
        </p:nvSpPr>
        <p:spPr>
          <a:xfrm>
            <a:off x="596900" y="5626099"/>
            <a:ext cx="5334000" cy="406400"/>
          </a:xfrm>
          <a:prstGeom prst="rect">
            <a:avLst/>
          </a:prstGeom>
          <a:noFill/>
        </p:spPr>
        <p:txBody>
          <a:bodyPr vert="horz" wrap="square" lIns="0" tIns="0" rIns="0" bIns="0" rtlCol="0">
            <a:noAutofit/>
          </a:bodyPr>
          <a:lstStyle/>
          <a:p>
            <a:r>
              <a:rPr lang="en-US" sz="2300" b="1">
                <a:solidFill>
                  <a:srgbClr val="111111"/>
                </a:solidFill>
                <a:latin typeface="Aptos" panose="020B0004020202020204" pitchFamily="34" charset="0"/>
              </a:rPr>
              <a:t>Trust resets at the border.</a:t>
            </a:r>
            <a:endParaRPr lang="uk-UA" sz="2300" b="1">
              <a:solidFill>
                <a:srgbClr val="111111"/>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848FA57A-4E12-4235-73D5-F90CE1816334}"/>
              </a:ext>
            </a:extLst>
          </p:cNvPr>
          <p:cNvCxnSpPr/>
          <p:nvPr/>
        </p:nvCxnSpPr>
        <p:spPr>
          <a:xfrm>
            <a:off x="7620000" y="5854700"/>
            <a:ext cx="3378200" cy="0"/>
          </a:xfrm>
          <a:prstGeom prst="line">
            <a:avLst/>
          </a:prstGeom>
          <a:ln w="25400">
            <a:solidFill>
              <a:srgbClr val="FF4A1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9806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737A31A-645B-5EB9-B89F-BE8E8F84FAB4}"/>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33AE96E-5DF7-9F16-314E-792F01EBF870}"/>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008C649E-8034-4426-4EE0-11071C8F9096}"/>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3</a:t>
            </a:r>
          </a:p>
        </p:txBody>
      </p:sp>
      <p:sp>
        <p:nvSpPr>
          <p:cNvPr id="5" name="TextBox 4">
            <a:extLst>
              <a:ext uri="{FF2B5EF4-FFF2-40B4-BE49-F238E27FC236}">
                <a16:creationId xmlns:a16="http://schemas.microsoft.com/office/drawing/2014/main" id="{E3C46403-4BB9-A67E-9524-67FCF45066FE}"/>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A BROKEN TRUST LOOP</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51A5FD73-8F3E-D3D8-76FA-80B31652C046}"/>
              </a:ext>
            </a:extLst>
          </p:cNvPr>
          <p:cNvSpPr txBox="1"/>
          <p:nvPr/>
        </p:nvSpPr>
        <p:spPr>
          <a:xfrm>
            <a:off x="571500" y="723899"/>
            <a:ext cx="10922000" cy="889000"/>
          </a:xfrm>
          <a:prstGeom prst="rect">
            <a:avLst/>
          </a:prstGeom>
          <a:noFill/>
        </p:spPr>
        <p:txBody>
          <a:bodyPr vert="horz" wrap="square" lIns="0" tIns="0" rIns="0" bIns="0" rtlCol="0">
            <a:noAutofit/>
          </a:bodyPr>
          <a:lstStyle/>
          <a:p>
            <a:r>
              <a:rPr lang="en-US" sz="2900" b="1">
                <a:solidFill>
                  <a:srgbClr val="111111"/>
                </a:solidFill>
                <a:latin typeface="Aptos" panose="020B0004020202020204" pitchFamily="34" charset="0"/>
              </a:rPr>
              <a:t>The deposit protects the landlord вЂ” until it traps the tenant.</a:t>
            </a:r>
            <a:endParaRPr lang="uk-UA" sz="2900" b="1">
              <a:solidFill>
                <a:srgbClr val="111111"/>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00D37A0D-B1D5-8073-A8AF-599DA394CD52}"/>
              </a:ext>
            </a:extLst>
          </p:cNvPr>
          <p:cNvSpPr/>
          <p:nvPr/>
        </p:nvSpPr>
        <p:spPr>
          <a:xfrm>
            <a:off x="596900" y="2006600"/>
            <a:ext cx="4826000" cy="32258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8" name="Rectangle: Rounded Corners 7">
            <a:extLst>
              <a:ext uri="{FF2B5EF4-FFF2-40B4-BE49-F238E27FC236}">
                <a16:creationId xmlns:a16="http://schemas.microsoft.com/office/drawing/2014/main" id="{1E9A4B29-C236-1480-2AD2-626AA05DD471}"/>
              </a:ext>
            </a:extLst>
          </p:cNvPr>
          <p:cNvSpPr/>
          <p:nvPr/>
        </p:nvSpPr>
        <p:spPr>
          <a:xfrm>
            <a:off x="6769100" y="2006600"/>
            <a:ext cx="4826000" cy="32258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9" name="TextBox 8">
            <a:extLst>
              <a:ext uri="{FF2B5EF4-FFF2-40B4-BE49-F238E27FC236}">
                <a16:creationId xmlns:a16="http://schemas.microsoft.com/office/drawing/2014/main" id="{08420335-56FD-08FF-6B8D-757700756F1B}"/>
              </a:ext>
            </a:extLst>
          </p:cNvPr>
          <p:cNvSpPr txBox="1"/>
          <p:nvPr/>
        </p:nvSpPr>
        <p:spPr>
          <a:xfrm>
            <a:off x="889000" y="2336800"/>
            <a:ext cx="1651000" cy="2032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LANDLORD</a:t>
            </a:r>
            <a:endParaRPr lang="uk-UA" sz="900" b="1">
              <a:solidFill>
                <a:srgbClr val="C2330C"/>
              </a:solidFill>
              <a:latin typeface="Aptos" panose="020B0004020202020204" pitchFamily="34" charset="0"/>
            </a:endParaRPr>
          </a:p>
        </p:txBody>
      </p:sp>
      <p:sp>
        <p:nvSpPr>
          <p:cNvPr id="10" name="TextBox 9">
            <a:extLst>
              <a:ext uri="{FF2B5EF4-FFF2-40B4-BE49-F238E27FC236}">
                <a16:creationId xmlns:a16="http://schemas.microsoft.com/office/drawing/2014/main" id="{EE35A0F5-6538-EA6F-90EF-1F1FB1E30437}"/>
              </a:ext>
            </a:extLst>
          </p:cNvPr>
          <p:cNvSpPr txBox="1"/>
          <p:nvPr/>
        </p:nvSpPr>
        <p:spPr>
          <a:xfrm>
            <a:off x="889000" y="2844799"/>
            <a:ext cx="3937000" cy="914400"/>
          </a:xfrm>
          <a:prstGeom prst="rect">
            <a:avLst/>
          </a:prstGeom>
          <a:noFill/>
        </p:spPr>
        <p:txBody>
          <a:bodyPr vert="horz" wrap="square" lIns="0" tIns="0" rIns="0" bIns="0" rtlCol="0">
            <a:noAutofit/>
          </a:bodyPr>
          <a:lstStyle/>
          <a:p>
            <a:r>
              <a:rPr lang="en-US" sz="2400" b="1">
                <a:solidFill>
                  <a:srgbClr val="111111"/>
                </a:solidFill>
                <a:latin typeface="Aptos" panose="020B0004020202020204" pitchFamily="34" charset="0"/>
              </a:rPr>
              <a:t>вЂњI donвЂ™t know
if I can trust you.вЂќ</a:t>
            </a:r>
            <a:endParaRPr lang="uk-UA" sz="2400" b="1">
              <a:solidFill>
                <a:srgbClr val="111111"/>
              </a:solidFill>
              <a:latin typeface="Aptos" panose="020B0004020202020204" pitchFamily="34" charset="0"/>
            </a:endParaRPr>
          </a:p>
        </p:txBody>
      </p:sp>
      <p:sp>
        <p:nvSpPr>
          <p:cNvPr id="11" name="TextBox 10">
            <a:extLst>
              <a:ext uri="{FF2B5EF4-FFF2-40B4-BE49-F238E27FC236}">
                <a16:creationId xmlns:a16="http://schemas.microsoft.com/office/drawing/2014/main" id="{1242D710-4E68-B59F-337B-B6AEF67B0993}"/>
              </a:ext>
            </a:extLst>
          </p:cNvPr>
          <p:cNvSpPr txBox="1"/>
          <p:nvPr/>
        </p:nvSpPr>
        <p:spPr>
          <a:xfrm>
            <a:off x="889000" y="4140199"/>
            <a:ext cx="3429000" cy="6223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в†’ higher deposit
в†’ more rejection</a:t>
            </a:r>
            <a:endParaRPr lang="uk-UA" sz="1400">
              <a:solidFill>
                <a:srgbClr val="5C5C57"/>
              </a:solidFill>
              <a:latin typeface="Aptos" panose="020B0004020202020204" pitchFamily="34" charset="0"/>
            </a:endParaRPr>
          </a:p>
        </p:txBody>
      </p:sp>
      <p:sp>
        <p:nvSpPr>
          <p:cNvPr id="12" name="TextBox 11">
            <a:extLst>
              <a:ext uri="{FF2B5EF4-FFF2-40B4-BE49-F238E27FC236}">
                <a16:creationId xmlns:a16="http://schemas.microsoft.com/office/drawing/2014/main" id="{903391B4-DA3F-8259-520E-15362219A0D0}"/>
              </a:ext>
            </a:extLst>
          </p:cNvPr>
          <p:cNvSpPr txBox="1"/>
          <p:nvPr/>
        </p:nvSpPr>
        <p:spPr>
          <a:xfrm>
            <a:off x="7061200" y="2336800"/>
            <a:ext cx="1651000" cy="2032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TENANT</a:t>
            </a:r>
            <a:endParaRPr lang="uk-UA" sz="900" b="1">
              <a:solidFill>
                <a:srgbClr val="C2330C"/>
              </a:solidFill>
              <a:latin typeface="Aptos" panose="020B0004020202020204" pitchFamily="34" charset="0"/>
            </a:endParaRPr>
          </a:p>
        </p:txBody>
      </p:sp>
      <p:sp>
        <p:nvSpPr>
          <p:cNvPr id="13" name="TextBox 12">
            <a:extLst>
              <a:ext uri="{FF2B5EF4-FFF2-40B4-BE49-F238E27FC236}">
                <a16:creationId xmlns:a16="http://schemas.microsoft.com/office/drawing/2014/main" id="{2B020657-5DE0-9D88-D3F2-F9ACB3DD615C}"/>
              </a:ext>
            </a:extLst>
          </p:cNvPr>
          <p:cNvSpPr txBox="1"/>
          <p:nvPr/>
        </p:nvSpPr>
        <p:spPr>
          <a:xfrm>
            <a:off x="7061200" y="2844799"/>
            <a:ext cx="3937000" cy="914400"/>
          </a:xfrm>
          <a:prstGeom prst="rect">
            <a:avLst/>
          </a:prstGeom>
          <a:noFill/>
        </p:spPr>
        <p:txBody>
          <a:bodyPr vert="horz" wrap="square" lIns="0" tIns="0" rIns="0" bIns="0" rtlCol="0">
            <a:noAutofit/>
          </a:bodyPr>
          <a:lstStyle/>
          <a:p>
            <a:r>
              <a:rPr lang="en-US" sz="2400" b="1">
                <a:solidFill>
                  <a:srgbClr val="111111"/>
                </a:solidFill>
                <a:latin typeface="Aptos" panose="020B0004020202020204" pitchFamily="34" charset="0"/>
              </a:rPr>
              <a:t>вЂњHow do I get
my deposit back?вЂќ</a:t>
            </a:r>
            <a:endParaRPr lang="uk-UA" sz="2400" b="1">
              <a:solidFill>
                <a:srgbClr val="111111"/>
              </a:solidFill>
              <a:latin typeface="Aptos" panose="020B0004020202020204" pitchFamily="34" charset="0"/>
            </a:endParaRPr>
          </a:p>
        </p:txBody>
      </p:sp>
      <p:sp>
        <p:nvSpPr>
          <p:cNvPr id="14" name="TextBox 13">
            <a:extLst>
              <a:ext uri="{FF2B5EF4-FFF2-40B4-BE49-F238E27FC236}">
                <a16:creationId xmlns:a16="http://schemas.microsoft.com/office/drawing/2014/main" id="{C8897DAA-4E8E-027F-79F2-1D573196376A}"/>
              </a:ext>
            </a:extLst>
          </p:cNvPr>
          <p:cNvSpPr txBox="1"/>
          <p:nvPr/>
        </p:nvSpPr>
        <p:spPr>
          <a:xfrm>
            <a:off x="7061200" y="4140199"/>
            <a:ext cx="3810000" cy="6223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в†’ weak leverage
в†’ court is slow and expensive</a:t>
            </a:r>
            <a:endParaRPr lang="uk-UA" sz="1400">
              <a:solidFill>
                <a:srgbClr val="5C5C57"/>
              </a:solidFill>
              <a:latin typeface="Aptos" panose="020B0004020202020204" pitchFamily="34" charset="0"/>
            </a:endParaRPr>
          </a:p>
        </p:txBody>
      </p:sp>
      <p:cxnSp>
        <p:nvCxnSpPr>
          <p:cNvPr id="15" name="Straight Connector 14">
            <a:extLst>
              <a:ext uri="{FF2B5EF4-FFF2-40B4-BE49-F238E27FC236}">
                <a16:creationId xmlns:a16="http://schemas.microsoft.com/office/drawing/2014/main" id="{75FA0002-C0DA-732F-D555-9985B27A6189}"/>
              </a:ext>
            </a:extLst>
          </p:cNvPr>
          <p:cNvCxnSpPr/>
          <p:nvPr/>
        </p:nvCxnSpPr>
        <p:spPr>
          <a:xfrm>
            <a:off x="5549900" y="3505200"/>
            <a:ext cx="1054100" cy="0"/>
          </a:xfrm>
          <a:prstGeom prst="line">
            <a:avLst/>
          </a:prstGeom>
          <a:ln w="25400">
            <a:solidFill>
              <a:srgbClr val="FF4A1C"/>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5CA073-8B89-ABC6-210F-E31401ECA6B0}"/>
              </a:ext>
            </a:extLst>
          </p:cNvPr>
          <p:cNvCxnSpPr/>
          <p:nvPr/>
        </p:nvCxnSpPr>
        <p:spPr>
          <a:xfrm flipH="1">
            <a:off x="5549900" y="3987800"/>
            <a:ext cx="1054100" cy="0"/>
          </a:xfrm>
          <a:prstGeom prst="line">
            <a:avLst/>
          </a:prstGeom>
          <a:ln w="25400">
            <a:solidFill>
              <a:srgbClr val="FF4A1C"/>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DC4C8CA-1E9A-42B5-1F09-F67E576BDB74}"/>
              </a:ext>
            </a:extLst>
          </p:cNvPr>
          <p:cNvSpPr txBox="1"/>
          <p:nvPr/>
        </p:nvSpPr>
        <p:spPr>
          <a:xfrm>
            <a:off x="1346200" y="5676899"/>
            <a:ext cx="9499600" cy="381000"/>
          </a:xfrm>
          <a:prstGeom prst="rect">
            <a:avLst/>
          </a:prstGeom>
          <a:noFill/>
        </p:spPr>
        <p:txBody>
          <a:bodyPr vert="horz" wrap="square" lIns="0" tIns="0" rIns="0" bIns="0" rtlCol="0">
            <a:noAutofit/>
          </a:bodyPr>
          <a:lstStyle/>
          <a:p>
            <a:pPr algn="ctr"/>
            <a:r>
              <a:rPr lang="en-US" b="1">
                <a:solidFill>
                  <a:srgbClr val="111111"/>
                </a:solidFill>
                <a:latin typeface="Aptos" panose="020B0004020202020204" pitchFamily="34" charset="0"/>
              </a:rPr>
              <a:t>The platform must not become another party users have to trust.</a:t>
            </a:r>
            <a:endParaRPr lang="uk-UA" b="1">
              <a:solidFill>
                <a:srgbClr val="111111"/>
              </a:solidFill>
              <a:latin typeface="Aptos" panose="020B0004020202020204" pitchFamily="34" charset="0"/>
            </a:endParaRPr>
          </a:p>
        </p:txBody>
      </p:sp>
    </p:spTree>
    <p:extLst>
      <p:ext uri="{BB962C8B-B14F-4D97-AF65-F5344CB8AC3E}">
        <p14:creationId xmlns:p14="http://schemas.microsoft.com/office/powerpoint/2010/main" val="327911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2FE7B39-F618-6549-94E4-0907F2AFFBFA}"/>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4AFE20C6-B819-6A87-0237-69A7F3A784BF}"/>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790460FE-4FAB-B5EA-7CD4-C3A087D7E8EC}"/>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4</a:t>
            </a:r>
          </a:p>
        </p:txBody>
      </p:sp>
      <p:sp>
        <p:nvSpPr>
          <p:cNvPr id="5" name="TextBox 4">
            <a:extLst>
              <a:ext uri="{FF2B5EF4-FFF2-40B4-BE49-F238E27FC236}">
                <a16:creationId xmlns:a16="http://schemas.microsoft.com/office/drawing/2014/main" id="{4836ADA3-6F6F-3FC1-03A0-3EB4DAC47A8C}"/>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THE SOLUTION</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90AF29CE-6CE3-E619-E988-F0904A0DFF54}"/>
              </a:ext>
            </a:extLst>
          </p:cNvPr>
          <p:cNvSpPr txBox="1"/>
          <p:nvPr/>
        </p:nvSpPr>
        <p:spPr>
          <a:xfrm>
            <a:off x="571500" y="723899"/>
            <a:ext cx="10922000" cy="889000"/>
          </a:xfrm>
          <a:prstGeom prst="rect">
            <a:avLst/>
          </a:prstGeom>
          <a:noFill/>
        </p:spPr>
        <p:txBody>
          <a:bodyPr vert="horz" wrap="square" lIns="0" tIns="0" rIns="0" bIns="0" rtlCol="0">
            <a:noAutofit/>
          </a:bodyPr>
          <a:lstStyle/>
          <a:p>
            <a:r>
              <a:rPr lang="en-US" sz="3000" b="1">
                <a:solidFill>
                  <a:srgbClr val="111111"/>
                </a:solidFill>
                <a:latin typeface="Aptos" panose="020B0004020202020204" pitchFamily="34" charset="0"/>
              </a:rPr>
              <a:t>One deposit. Two protections. A record that travels.</a:t>
            </a:r>
            <a:endParaRPr lang="uk-UA" sz="3000" b="1">
              <a:solidFill>
                <a:srgbClr val="111111"/>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BE83D464-11DB-D5A7-9F66-340653A09AC6}"/>
              </a:ext>
            </a:extLst>
          </p:cNvPr>
          <p:cNvSpPr/>
          <p:nvPr/>
        </p:nvSpPr>
        <p:spPr>
          <a:xfrm>
            <a:off x="660400" y="2082800"/>
            <a:ext cx="3213100" cy="30226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8" name="TextBox 7">
            <a:extLst>
              <a:ext uri="{FF2B5EF4-FFF2-40B4-BE49-F238E27FC236}">
                <a16:creationId xmlns:a16="http://schemas.microsoft.com/office/drawing/2014/main" id="{95C2A414-8C69-48C9-959D-C10A89BC4E09}"/>
              </a:ext>
            </a:extLst>
          </p:cNvPr>
          <p:cNvSpPr txBox="1"/>
          <p:nvPr/>
        </p:nvSpPr>
        <p:spPr>
          <a:xfrm>
            <a:off x="901700" y="2349500"/>
            <a:ext cx="5080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01</a:t>
            </a:r>
          </a:p>
        </p:txBody>
      </p:sp>
      <p:sp>
        <p:nvSpPr>
          <p:cNvPr id="9" name="TextBox 8">
            <a:extLst>
              <a:ext uri="{FF2B5EF4-FFF2-40B4-BE49-F238E27FC236}">
                <a16:creationId xmlns:a16="http://schemas.microsoft.com/office/drawing/2014/main" id="{5BA758ED-E699-D42D-0FC9-2C1CBAB84E7D}"/>
              </a:ext>
            </a:extLst>
          </p:cNvPr>
          <p:cNvSpPr txBox="1"/>
          <p:nvPr/>
        </p:nvSpPr>
        <p:spPr>
          <a:xfrm>
            <a:off x="901700" y="2895599"/>
            <a:ext cx="2476500" cy="317500"/>
          </a:xfrm>
          <a:prstGeom prst="rect">
            <a:avLst/>
          </a:prstGeom>
          <a:noFill/>
        </p:spPr>
        <p:txBody>
          <a:bodyPr vert="horz" wrap="square" lIns="0" tIns="0" rIns="0" bIns="0" rtlCol="0">
            <a:noAutofit/>
          </a:bodyPr>
          <a:lstStyle/>
          <a:p>
            <a:r>
              <a:rPr lang="en-US" sz="2000" b="1">
                <a:solidFill>
                  <a:srgbClr val="111111"/>
                </a:solidFill>
                <a:latin typeface="Aptos" panose="020B0004020202020204" pitchFamily="34" charset="0"/>
              </a:rPr>
              <a:t>LOCK</a:t>
            </a:r>
            <a:endParaRPr lang="uk-UA" sz="2000" b="1">
              <a:solidFill>
                <a:srgbClr val="111111"/>
              </a:solidFill>
              <a:latin typeface="Aptos" panose="020B0004020202020204" pitchFamily="34" charset="0"/>
            </a:endParaRPr>
          </a:p>
        </p:txBody>
      </p:sp>
      <p:sp>
        <p:nvSpPr>
          <p:cNvPr id="10" name="TextBox 9">
            <a:extLst>
              <a:ext uri="{FF2B5EF4-FFF2-40B4-BE49-F238E27FC236}">
                <a16:creationId xmlns:a16="http://schemas.microsoft.com/office/drawing/2014/main" id="{669D4378-68A4-D88B-52EF-AC72EA4162B7}"/>
              </a:ext>
            </a:extLst>
          </p:cNvPr>
          <p:cNvSpPr txBox="1"/>
          <p:nvPr/>
        </p:nvSpPr>
        <p:spPr>
          <a:xfrm>
            <a:off x="901700" y="3606799"/>
            <a:ext cx="2603500" cy="7747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Deposit enters a smart-contract escrow</a:t>
            </a:r>
            <a:endParaRPr lang="uk-UA" sz="1400">
              <a:solidFill>
                <a:srgbClr val="5C5C57"/>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B54012B5-11DD-22AE-D663-4FE7D90F299B}"/>
              </a:ext>
            </a:extLst>
          </p:cNvPr>
          <p:cNvSpPr/>
          <p:nvPr/>
        </p:nvSpPr>
        <p:spPr>
          <a:xfrm>
            <a:off x="4483100" y="2082800"/>
            <a:ext cx="3213100" cy="3022600"/>
          </a:xfrm>
          <a:prstGeom prst="roundRect">
            <a:avLst/>
          </a:prstGeom>
          <a:solidFill>
            <a:srgbClr val="ECECE7"/>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2" name="TextBox 11">
            <a:extLst>
              <a:ext uri="{FF2B5EF4-FFF2-40B4-BE49-F238E27FC236}">
                <a16:creationId xmlns:a16="http://schemas.microsoft.com/office/drawing/2014/main" id="{99AD6615-22BA-2F9B-1620-9680BFADDDEA}"/>
              </a:ext>
            </a:extLst>
          </p:cNvPr>
          <p:cNvSpPr txBox="1"/>
          <p:nvPr/>
        </p:nvSpPr>
        <p:spPr>
          <a:xfrm>
            <a:off x="4724400" y="2349500"/>
            <a:ext cx="5080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02</a:t>
            </a:r>
          </a:p>
        </p:txBody>
      </p:sp>
      <p:sp>
        <p:nvSpPr>
          <p:cNvPr id="13" name="TextBox 12">
            <a:extLst>
              <a:ext uri="{FF2B5EF4-FFF2-40B4-BE49-F238E27FC236}">
                <a16:creationId xmlns:a16="http://schemas.microsoft.com/office/drawing/2014/main" id="{E626E9C7-0246-690C-9C06-1EAC0C19D5DC}"/>
              </a:ext>
            </a:extLst>
          </p:cNvPr>
          <p:cNvSpPr txBox="1"/>
          <p:nvPr/>
        </p:nvSpPr>
        <p:spPr>
          <a:xfrm>
            <a:off x="4724400" y="2895599"/>
            <a:ext cx="2476500" cy="317500"/>
          </a:xfrm>
          <a:prstGeom prst="rect">
            <a:avLst/>
          </a:prstGeom>
          <a:noFill/>
        </p:spPr>
        <p:txBody>
          <a:bodyPr vert="horz" wrap="square" lIns="0" tIns="0" rIns="0" bIns="0" rtlCol="0">
            <a:noAutofit/>
          </a:bodyPr>
          <a:lstStyle/>
          <a:p>
            <a:r>
              <a:rPr lang="en-US" sz="2000" b="1">
                <a:solidFill>
                  <a:srgbClr val="111111"/>
                </a:solidFill>
                <a:latin typeface="Aptos" panose="020B0004020202020204" pitchFamily="34" charset="0"/>
              </a:rPr>
              <a:t>SETTLE</a:t>
            </a:r>
            <a:endParaRPr lang="uk-UA" sz="2000" b="1">
              <a:solidFill>
                <a:srgbClr val="111111"/>
              </a:solidFill>
              <a:latin typeface="Aptos" panose="020B0004020202020204" pitchFamily="34" charset="0"/>
            </a:endParaRPr>
          </a:p>
        </p:txBody>
      </p:sp>
      <p:sp>
        <p:nvSpPr>
          <p:cNvPr id="14" name="TextBox 13">
            <a:extLst>
              <a:ext uri="{FF2B5EF4-FFF2-40B4-BE49-F238E27FC236}">
                <a16:creationId xmlns:a16="http://schemas.microsoft.com/office/drawing/2014/main" id="{5F76B241-C9C1-987F-175A-E45DEC56C019}"/>
              </a:ext>
            </a:extLst>
          </p:cNvPr>
          <p:cNvSpPr txBox="1"/>
          <p:nvPr/>
        </p:nvSpPr>
        <p:spPr>
          <a:xfrm>
            <a:off x="4724400" y="3606799"/>
            <a:ext cx="2603500" cy="7747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Returned, split, or resolved by an arbiter</a:t>
            </a:r>
            <a:endParaRPr lang="uk-UA" sz="1400">
              <a:solidFill>
                <a:srgbClr val="5C5C57"/>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0B4FDF57-22D2-E9C2-F8EF-A34140EADC9B}"/>
              </a:ext>
            </a:extLst>
          </p:cNvPr>
          <p:cNvSpPr/>
          <p:nvPr/>
        </p:nvSpPr>
        <p:spPr>
          <a:xfrm>
            <a:off x="8305800" y="2082800"/>
            <a:ext cx="3213100" cy="30226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6" name="TextBox 15">
            <a:extLst>
              <a:ext uri="{FF2B5EF4-FFF2-40B4-BE49-F238E27FC236}">
                <a16:creationId xmlns:a16="http://schemas.microsoft.com/office/drawing/2014/main" id="{AA593513-4F9A-D490-4C66-8D52EAD2B94D}"/>
              </a:ext>
            </a:extLst>
          </p:cNvPr>
          <p:cNvSpPr txBox="1"/>
          <p:nvPr/>
        </p:nvSpPr>
        <p:spPr>
          <a:xfrm>
            <a:off x="8547100" y="2349500"/>
            <a:ext cx="508000" cy="1905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03</a:t>
            </a:r>
          </a:p>
        </p:txBody>
      </p:sp>
      <p:sp>
        <p:nvSpPr>
          <p:cNvPr id="17" name="TextBox 16">
            <a:extLst>
              <a:ext uri="{FF2B5EF4-FFF2-40B4-BE49-F238E27FC236}">
                <a16:creationId xmlns:a16="http://schemas.microsoft.com/office/drawing/2014/main" id="{CEC9C7F4-28B8-7E03-F92F-B5E9954290CE}"/>
              </a:ext>
            </a:extLst>
          </p:cNvPr>
          <p:cNvSpPr txBox="1"/>
          <p:nvPr/>
        </p:nvSpPr>
        <p:spPr>
          <a:xfrm>
            <a:off x="8547100" y="2895599"/>
            <a:ext cx="2476500" cy="317500"/>
          </a:xfrm>
          <a:prstGeom prst="rect">
            <a:avLst/>
          </a:prstGeom>
          <a:noFill/>
        </p:spPr>
        <p:txBody>
          <a:bodyPr vert="horz" wrap="square" lIns="0" tIns="0" rIns="0" bIns="0" rtlCol="0">
            <a:noAutofit/>
          </a:bodyPr>
          <a:lstStyle/>
          <a:p>
            <a:r>
              <a:rPr lang="en-US" sz="2000" b="1">
                <a:solidFill>
                  <a:srgbClr val="111111"/>
                </a:solidFill>
                <a:latin typeface="Aptos" panose="020B0004020202020204" pitchFamily="34" charset="0"/>
              </a:rPr>
              <a:t>PROVE</a:t>
            </a:r>
            <a:endParaRPr lang="uk-UA" sz="2000" b="1">
              <a:solidFill>
                <a:srgbClr val="111111"/>
              </a:solidFill>
              <a:latin typeface="Aptos" panose="020B0004020202020204" pitchFamily="34" charset="0"/>
            </a:endParaRPr>
          </a:p>
        </p:txBody>
      </p:sp>
      <p:sp>
        <p:nvSpPr>
          <p:cNvPr id="18" name="TextBox 17">
            <a:extLst>
              <a:ext uri="{FF2B5EF4-FFF2-40B4-BE49-F238E27FC236}">
                <a16:creationId xmlns:a16="http://schemas.microsoft.com/office/drawing/2014/main" id="{39C3D666-4F3F-006F-1316-AED9C2D896FA}"/>
              </a:ext>
            </a:extLst>
          </p:cNvPr>
          <p:cNvSpPr txBox="1"/>
          <p:nvPr/>
        </p:nvSpPr>
        <p:spPr>
          <a:xfrm>
            <a:off x="8547100" y="3606799"/>
            <a:ext cx="2603500" cy="774700"/>
          </a:xfrm>
          <a:prstGeom prst="rect">
            <a:avLst/>
          </a:prstGeom>
          <a:noFill/>
        </p:spPr>
        <p:txBody>
          <a:bodyPr vert="horz" wrap="square" lIns="0" tIns="0" rIns="0" bIns="0" rtlCol="0">
            <a:noAutofit/>
          </a:bodyPr>
          <a:lstStyle/>
          <a:p>
            <a:r>
              <a:rPr lang="en-US" sz="1400">
                <a:solidFill>
                  <a:srgbClr val="5C5C57"/>
                </a:solidFill>
                <a:latin typeface="Aptos" panose="020B0004020202020204" pitchFamily="34" charset="0"/>
              </a:rPr>
              <a:t>Outcome becomes a portable rent passport</a:t>
            </a:r>
            <a:endParaRPr lang="uk-UA" sz="1400">
              <a:solidFill>
                <a:srgbClr val="5C5C57"/>
              </a:solidFill>
              <a:latin typeface="Aptos" panose="020B0004020202020204" pitchFamily="34" charset="0"/>
            </a:endParaRPr>
          </a:p>
        </p:txBody>
      </p:sp>
      <p:cxnSp>
        <p:nvCxnSpPr>
          <p:cNvPr id="19" name="Straight Connector 18">
            <a:extLst>
              <a:ext uri="{FF2B5EF4-FFF2-40B4-BE49-F238E27FC236}">
                <a16:creationId xmlns:a16="http://schemas.microsoft.com/office/drawing/2014/main" id="{FB676955-CD74-3738-55D9-91602B3B6F94}"/>
              </a:ext>
            </a:extLst>
          </p:cNvPr>
          <p:cNvCxnSpPr/>
          <p:nvPr/>
        </p:nvCxnSpPr>
        <p:spPr>
          <a:xfrm>
            <a:off x="3937000" y="3581400"/>
            <a:ext cx="406400" cy="0"/>
          </a:xfrm>
          <a:prstGeom prst="line">
            <a:avLst/>
          </a:prstGeom>
          <a:ln w="25400">
            <a:solidFill>
              <a:srgbClr val="FF4A1C"/>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C8B60B5-09BA-F3AB-1D62-7FFF097B61F8}"/>
              </a:ext>
            </a:extLst>
          </p:cNvPr>
          <p:cNvCxnSpPr/>
          <p:nvPr/>
        </p:nvCxnSpPr>
        <p:spPr>
          <a:xfrm>
            <a:off x="7759700" y="3581400"/>
            <a:ext cx="406400" cy="0"/>
          </a:xfrm>
          <a:prstGeom prst="line">
            <a:avLst/>
          </a:prstGeom>
          <a:ln w="25400">
            <a:solidFill>
              <a:srgbClr val="FF4A1C"/>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76139C2-C6C8-E739-EF34-1347B45A709D}"/>
              </a:ext>
            </a:extLst>
          </p:cNvPr>
          <p:cNvSpPr txBox="1"/>
          <p:nvPr/>
        </p:nvSpPr>
        <p:spPr>
          <a:xfrm>
            <a:off x="1016000" y="5626099"/>
            <a:ext cx="10160000" cy="381000"/>
          </a:xfrm>
          <a:prstGeom prst="rect">
            <a:avLst/>
          </a:prstGeom>
          <a:noFill/>
        </p:spPr>
        <p:txBody>
          <a:bodyPr vert="horz" wrap="square" lIns="0" tIns="0" rIns="0" bIns="0" rtlCol="0">
            <a:noAutofit/>
          </a:bodyPr>
          <a:lstStyle/>
          <a:p>
            <a:pPr algn="ctr"/>
            <a:r>
              <a:rPr lang="en-US" b="1">
                <a:solidFill>
                  <a:srgbClr val="111111"/>
                </a:solidFill>
                <a:latin typeface="Aptos" panose="020B0004020202020204" pitchFamily="34" charset="0"/>
              </a:rPr>
              <a:t>No custody by us. No editable PDF. No private banking documents.</a:t>
            </a:r>
            <a:endParaRPr lang="uk-UA" b="1">
              <a:solidFill>
                <a:srgbClr val="111111"/>
              </a:solidFill>
              <a:latin typeface="Aptos" panose="020B0004020202020204" pitchFamily="34" charset="0"/>
            </a:endParaRPr>
          </a:p>
        </p:txBody>
      </p:sp>
    </p:spTree>
    <p:extLst>
      <p:ext uri="{BB962C8B-B14F-4D97-AF65-F5344CB8AC3E}">
        <p14:creationId xmlns:p14="http://schemas.microsoft.com/office/powerpoint/2010/main" val="4104417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DF6483F-25F8-955E-1DAE-29CF5FF7F349}"/>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08529D7-5731-63BF-52E7-04FA7850C4A5}"/>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0A5A76A9-CA9D-3992-CA29-0DF682B016F3}"/>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5</a:t>
            </a:r>
          </a:p>
        </p:txBody>
      </p:sp>
      <p:sp>
        <p:nvSpPr>
          <p:cNvPr id="5" name="TextBox 4">
            <a:extLst>
              <a:ext uri="{FF2B5EF4-FFF2-40B4-BE49-F238E27FC236}">
                <a16:creationId xmlns:a16="http://schemas.microsoft.com/office/drawing/2014/main" id="{47DB71EE-5597-D95A-E9EF-E7B2E9308B6D}"/>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THE TRUST PASSPORT</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9F8D34A1-1FD4-F28E-5134-A94696746447}"/>
              </a:ext>
            </a:extLst>
          </p:cNvPr>
          <p:cNvSpPr txBox="1"/>
          <p:nvPr/>
        </p:nvSpPr>
        <p:spPr>
          <a:xfrm>
            <a:off x="571500" y="723899"/>
            <a:ext cx="10922000" cy="889000"/>
          </a:xfrm>
          <a:prstGeom prst="rect">
            <a:avLst/>
          </a:prstGeom>
          <a:noFill/>
        </p:spPr>
        <p:txBody>
          <a:bodyPr vert="horz" wrap="square" lIns="0" tIns="0" rIns="0" bIns="0" rtlCol="0">
            <a:noAutofit/>
          </a:bodyPr>
          <a:lstStyle/>
          <a:p>
            <a:r>
              <a:rPr lang="en-US" sz="2900" b="1">
                <a:solidFill>
                  <a:srgbClr val="111111"/>
                </a:solidFill>
                <a:latin typeface="Aptos" panose="020B0004020202020204" pitchFamily="34" charset="0"/>
              </a:rPr>
              <a:t>A universal signal вЂ” without exposing private documents.</a:t>
            </a:r>
            <a:endParaRPr lang="uk-UA" sz="2900" b="1">
              <a:solidFill>
                <a:srgbClr val="111111"/>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11F0863C-2630-452C-7AC7-E4FE0BE7EE4D}"/>
              </a:ext>
            </a:extLst>
          </p:cNvPr>
          <p:cNvSpPr/>
          <p:nvPr/>
        </p:nvSpPr>
        <p:spPr>
          <a:xfrm>
            <a:off x="609600" y="1841500"/>
            <a:ext cx="6527800" cy="36449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8" name="TextBox 7">
            <a:extLst>
              <a:ext uri="{FF2B5EF4-FFF2-40B4-BE49-F238E27FC236}">
                <a16:creationId xmlns:a16="http://schemas.microsoft.com/office/drawing/2014/main" id="{443FBECB-D532-C6B4-78C6-E4F69626513E}"/>
              </a:ext>
            </a:extLst>
          </p:cNvPr>
          <p:cNvSpPr txBox="1"/>
          <p:nvPr/>
        </p:nvSpPr>
        <p:spPr>
          <a:xfrm>
            <a:off x="965200" y="2171700"/>
            <a:ext cx="2159000" cy="203200"/>
          </a:xfrm>
          <a:prstGeom prst="rect">
            <a:avLst/>
          </a:prstGeom>
          <a:noFill/>
        </p:spPr>
        <p:txBody>
          <a:bodyPr vert="horz" wrap="square" lIns="0" tIns="0" rIns="0" bIns="0" rtlCol="0">
            <a:noAutofit/>
          </a:bodyPr>
          <a:lstStyle/>
          <a:p>
            <a:r>
              <a:rPr lang="en-US" sz="900" b="1">
                <a:solidFill>
                  <a:srgbClr val="5C5C57"/>
                </a:solidFill>
                <a:latin typeface="Aptos" panose="020B0004020202020204" pitchFamily="34" charset="0"/>
              </a:rPr>
              <a:t>TENANT PASSPORT</a:t>
            </a:r>
            <a:endParaRPr lang="uk-UA" sz="900" b="1">
              <a:solidFill>
                <a:srgbClr val="5C5C57"/>
              </a:solidFill>
              <a:latin typeface="Aptos" panose="020B0004020202020204" pitchFamily="34" charset="0"/>
            </a:endParaRPr>
          </a:p>
        </p:txBody>
      </p:sp>
      <p:sp>
        <p:nvSpPr>
          <p:cNvPr id="9" name="TextBox 8">
            <a:extLst>
              <a:ext uri="{FF2B5EF4-FFF2-40B4-BE49-F238E27FC236}">
                <a16:creationId xmlns:a16="http://schemas.microsoft.com/office/drawing/2014/main" id="{541035C8-2A58-6329-E52E-59822A335E20}"/>
              </a:ext>
            </a:extLst>
          </p:cNvPr>
          <p:cNvSpPr txBox="1"/>
          <p:nvPr/>
        </p:nvSpPr>
        <p:spPr>
          <a:xfrm>
            <a:off x="965200" y="2565399"/>
            <a:ext cx="3175000" cy="406400"/>
          </a:xfrm>
          <a:prstGeom prst="rect">
            <a:avLst/>
          </a:prstGeom>
          <a:noFill/>
        </p:spPr>
        <p:txBody>
          <a:bodyPr vert="horz" wrap="square" lIns="0" tIns="0" rIns="0" bIns="0" rtlCol="0">
            <a:noAutofit/>
          </a:bodyPr>
          <a:lstStyle/>
          <a:p>
            <a:r>
              <a:rPr lang="en-US" sz="2200" b="1">
                <a:solidFill>
                  <a:srgbClr val="111111"/>
                </a:solidFill>
                <a:latin typeface="Aptos" panose="020B0004020202020204" pitchFamily="34" charset="0"/>
              </a:rPr>
              <a:t>Verified renter</a:t>
            </a:r>
            <a:endParaRPr lang="uk-UA" sz="2200" b="1">
              <a:solidFill>
                <a:srgbClr val="111111"/>
              </a:solidFill>
              <a:latin typeface="Aptos" panose="020B0004020202020204" pitchFamily="34" charset="0"/>
            </a:endParaRPr>
          </a:p>
        </p:txBody>
      </p:sp>
      <p:sp>
        <p:nvSpPr>
          <p:cNvPr id="10" name="TextBox 9">
            <a:extLst>
              <a:ext uri="{FF2B5EF4-FFF2-40B4-BE49-F238E27FC236}">
                <a16:creationId xmlns:a16="http://schemas.microsoft.com/office/drawing/2014/main" id="{515F8CFC-0709-C771-F702-96BF991B37C9}"/>
              </a:ext>
            </a:extLst>
          </p:cNvPr>
          <p:cNvSpPr txBox="1"/>
          <p:nvPr/>
        </p:nvSpPr>
        <p:spPr>
          <a:xfrm>
            <a:off x="965200" y="3035300"/>
            <a:ext cx="3302000" cy="228600"/>
          </a:xfrm>
          <a:prstGeom prst="rect">
            <a:avLst/>
          </a:prstGeom>
          <a:noFill/>
        </p:spPr>
        <p:txBody>
          <a:bodyPr vert="horz" wrap="square" lIns="0" tIns="0" rIns="0" bIns="0" rtlCol="0">
            <a:noAutofit/>
          </a:bodyPr>
          <a:lstStyle/>
          <a:p>
            <a:r>
              <a:rPr lang="en-US" sz="1100">
                <a:solidFill>
                  <a:srgbClr val="5C5C57"/>
                </a:solidFill>
                <a:latin typeface="Aptos" panose="020B0004020202020204" pitchFamily="34" charset="0"/>
              </a:rPr>
              <a:t>Publicly verifiable on Solana</a:t>
            </a:r>
            <a:endParaRPr lang="uk-UA" sz="1100">
              <a:solidFill>
                <a:srgbClr val="5C5C57"/>
              </a:solidFill>
              <a:latin typeface="Aptos" panose="020B0004020202020204" pitchFamily="34" charset="0"/>
            </a:endParaRPr>
          </a:p>
        </p:txBody>
      </p:sp>
      <p:sp>
        <p:nvSpPr>
          <p:cNvPr id="11" name="Oval 10">
            <a:extLst>
              <a:ext uri="{FF2B5EF4-FFF2-40B4-BE49-F238E27FC236}">
                <a16:creationId xmlns:a16="http://schemas.microsoft.com/office/drawing/2014/main" id="{EE9ACF23-7EDD-3636-1EB1-61DF23813551}"/>
              </a:ext>
            </a:extLst>
          </p:cNvPr>
          <p:cNvSpPr/>
          <p:nvPr/>
        </p:nvSpPr>
        <p:spPr>
          <a:xfrm>
            <a:off x="5765800" y="2400300"/>
            <a:ext cx="787400" cy="787400"/>
          </a:xfrm>
          <a:prstGeom prst="ellipse">
            <a:avLst/>
          </a:prstGeom>
          <a:solidFill>
            <a:srgbClr val="FF4A1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2" name="TextBox 11">
            <a:extLst>
              <a:ext uri="{FF2B5EF4-FFF2-40B4-BE49-F238E27FC236}">
                <a16:creationId xmlns:a16="http://schemas.microsoft.com/office/drawing/2014/main" id="{6183BB7A-B62B-D583-E16F-3B9D6954C9DC}"/>
              </a:ext>
            </a:extLst>
          </p:cNvPr>
          <p:cNvSpPr txBox="1"/>
          <p:nvPr/>
        </p:nvSpPr>
        <p:spPr>
          <a:xfrm>
            <a:off x="5918200" y="2679700"/>
            <a:ext cx="482600" cy="177800"/>
          </a:xfrm>
          <a:prstGeom prst="rect">
            <a:avLst/>
          </a:prstGeom>
          <a:noFill/>
        </p:spPr>
        <p:txBody>
          <a:bodyPr vert="horz" wrap="square" lIns="0" tIns="0" rIns="0" bIns="0" rtlCol="0">
            <a:noAutofit/>
          </a:bodyPr>
          <a:lstStyle/>
          <a:p>
            <a:pPr algn="ctr"/>
            <a:r>
              <a:rPr lang="en-US" sz="900" b="1">
                <a:solidFill>
                  <a:srgbClr val="111111"/>
                </a:solidFill>
                <a:latin typeface="Aptos" panose="020B0004020202020204" pitchFamily="34" charset="0"/>
              </a:rPr>
              <a:t>OK</a:t>
            </a:r>
            <a:endParaRPr lang="uk-UA" sz="900" b="1">
              <a:solidFill>
                <a:srgbClr val="111111"/>
              </a:solidFill>
              <a:latin typeface="Aptos" panose="020B0004020202020204" pitchFamily="34" charset="0"/>
            </a:endParaRPr>
          </a:p>
        </p:txBody>
      </p:sp>
      <p:sp>
        <p:nvSpPr>
          <p:cNvPr id="13" name="TextBox 12">
            <a:extLst>
              <a:ext uri="{FF2B5EF4-FFF2-40B4-BE49-F238E27FC236}">
                <a16:creationId xmlns:a16="http://schemas.microsoft.com/office/drawing/2014/main" id="{9BF20FC5-88B8-76AF-040B-82B9FA875D94}"/>
              </a:ext>
            </a:extLst>
          </p:cNvPr>
          <p:cNvSpPr txBox="1"/>
          <p:nvPr/>
        </p:nvSpPr>
        <p:spPr>
          <a:xfrm>
            <a:off x="965200" y="3797299"/>
            <a:ext cx="1651000" cy="457200"/>
          </a:xfrm>
          <a:prstGeom prst="rect">
            <a:avLst/>
          </a:prstGeom>
          <a:noFill/>
        </p:spPr>
        <p:txBody>
          <a:bodyPr vert="horz" wrap="square" lIns="0" tIns="0" rIns="0" bIns="0" rtlCol="0">
            <a:noAutofit/>
          </a:bodyPr>
          <a:lstStyle/>
          <a:p>
            <a:r>
              <a:rPr lang="en-US" sz="2500" b="1">
                <a:solidFill>
                  <a:srgbClr val="C2330C"/>
                </a:solidFill>
                <a:latin typeface="Aptos" panose="020B0004020202020204" pitchFamily="34" charset="0"/>
              </a:rPr>
              <a:t>2 of 2</a:t>
            </a:r>
            <a:endParaRPr lang="uk-UA" sz="2500" b="1">
              <a:solidFill>
                <a:srgbClr val="C2330C"/>
              </a:solidFill>
              <a:latin typeface="Aptos" panose="020B0004020202020204" pitchFamily="34" charset="0"/>
            </a:endParaRPr>
          </a:p>
        </p:txBody>
      </p:sp>
      <p:sp>
        <p:nvSpPr>
          <p:cNvPr id="14" name="TextBox 13">
            <a:extLst>
              <a:ext uri="{FF2B5EF4-FFF2-40B4-BE49-F238E27FC236}">
                <a16:creationId xmlns:a16="http://schemas.microsoft.com/office/drawing/2014/main" id="{CE9BD6B1-FD88-2327-757D-F2F0801CCB79}"/>
              </a:ext>
            </a:extLst>
          </p:cNvPr>
          <p:cNvSpPr txBox="1"/>
          <p:nvPr/>
        </p:nvSpPr>
        <p:spPr>
          <a:xfrm>
            <a:off x="965200" y="4381499"/>
            <a:ext cx="1651000" cy="431800"/>
          </a:xfrm>
          <a:prstGeom prst="rect">
            <a:avLst/>
          </a:prstGeom>
          <a:noFill/>
        </p:spPr>
        <p:txBody>
          <a:bodyPr vert="horz" wrap="square" lIns="0" tIns="0" rIns="0" bIns="0" rtlCol="0">
            <a:noAutofit/>
          </a:bodyPr>
          <a:lstStyle/>
          <a:p>
            <a:r>
              <a:rPr lang="en-US" sz="1050">
                <a:solidFill>
                  <a:srgbClr val="5C5C57"/>
                </a:solidFill>
                <a:latin typeface="Aptos" panose="020B0004020202020204" pitchFamily="34" charset="0"/>
              </a:rPr>
              <a:t>Deposit back in full</a:t>
            </a:r>
            <a:endParaRPr lang="uk-UA" sz="1050">
              <a:solidFill>
                <a:srgbClr val="5C5C57"/>
              </a:solidFill>
              <a:latin typeface="Aptos" panose="020B0004020202020204" pitchFamily="34" charset="0"/>
            </a:endParaRPr>
          </a:p>
        </p:txBody>
      </p:sp>
      <p:sp>
        <p:nvSpPr>
          <p:cNvPr id="15" name="TextBox 14">
            <a:extLst>
              <a:ext uri="{FF2B5EF4-FFF2-40B4-BE49-F238E27FC236}">
                <a16:creationId xmlns:a16="http://schemas.microsoft.com/office/drawing/2014/main" id="{30229DF7-8332-B65C-FBE4-1001FA517581}"/>
              </a:ext>
            </a:extLst>
          </p:cNvPr>
          <p:cNvSpPr txBox="1"/>
          <p:nvPr/>
        </p:nvSpPr>
        <p:spPr>
          <a:xfrm>
            <a:off x="2921000" y="3797299"/>
            <a:ext cx="1651000" cy="457200"/>
          </a:xfrm>
          <a:prstGeom prst="rect">
            <a:avLst/>
          </a:prstGeom>
          <a:noFill/>
        </p:spPr>
        <p:txBody>
          <a:bodyPr vert="horz" wrap="square" lIns="0" tIns="0" rIns="0" bIns="0" rtlCol="0">
            <a:noAutofit/>
          </a:bodyPr>
          <a:lstStyle/>
          <a:p>
            <a:r>
              <a:rPr lang="uk-UA" sz="2500" b="1">
                <a:solidFill>
                  <a:srgbClr val="111111"/>
                </a:solidFill>
                <a:latin typeface="Aptos" panose="020B0004020202020204" pitchFamily="34" charset="0"/>
              </a:rPr>
              <a:t>2</a:t>
            </a:r>
          </a:p>
        </p:txBody>
      </p:sp>
      <p:sp>
        <p:nvSpPr>
          <p:cNvPr id="16" name="TextBox 15">
            <a:extLst>
              <a:ext uri="{FF2B5EF4-FFF2-40B4-BE49-F238E27FC236}">
                <a16:creationId xmlns:a16="http://schemas.microsoft.com/office/drawing/2014/main" id="{6BA3799A-C842-99DA-0A92-AD3ECFACD678}"/>
              </a:ext>
            </a:extLst>
          </p:cNvPr>
          <p:cNvSpPr txBox="1"/>
          <p:nvPr/>
        </p:nvSpPr>
        <p:spPr>
          <a:xfrm>
            <a:off x="2921000" y="4381499"/>
            <a:ext cx="1651000" cy="431800"/>
          </a:xfrm>
          <a:prstGeom prst="rect">
            <a:avLst/>
          </a:prstGeom>
          <a:noFill/>
        </p:spPr>
        <p:txBody>
          <a:bodyPr vert="horz" wrap="square" lIns="0" tIns="0" rIns="0" bIns="0" rtlCol="0">
            <a:noAutofit/>
          </a:bodyPr>
          <a:lstStyle/>
          <a:p>
            <a:r>
              <a:rPr lang="en-US" sz="1050">
                <a:solidFill>
                  <a:srgbClr val="5C5C57"/>
                </a:solidFill>
                <a:latin typeface="Aptos" panose="020B0004020202020204" pitchFamily="34" charset="0"/>
              </a:rPr>
              <a:t>Completed leases</a:t>
            </a:r>
            <a:endParaRPr lang="uk-UA" sz="1050">
              <a:solidFill>
                <a:srgbClr val="5C5C57"/>
              </a:solidFill>
              <a:latin typeface="Aptos" panose="020B0004020202020204" pitchFamily="34" charset="0"/>
            </a:endParaRPr>
          </a:p>
        </p:txBody>
      </p:sp>
      <p:sp>
        <p:nvSpPr>
          <p:cNvPr id="17" name="TextBox 16">
            <a:extLst>
              <a:ext uri="{FF2B5EF4-FFF2-40B4-BE49-F238E27FC236}">
                <a16:creationId xmlns:a16="http://schemas.microsoft.com/office/drawing/2014/main" id="{0147FF52-5C12-4150-11D4-13C9F88A1F54}"/>
              </a:ext>
            </a:extLst>
          </p:cNvPr>
          <p:cNvSpPr txBox="1"/>
          <p:nvPr/>
        </p:nvSpPr>
        <p:spPr>
          <a:xfrm>
            <a:off x="4876800" y="3797299"/>
            <a:ext cx="1651000" cy="457200"/>
          </a:xfrm>
          <a:prstGeom prst="rect">
            <a:avLst/>
          </a:prstGeom>
          <a:noFill/>
        </p:spPr>
        <p:txBody>
          <a:bodyPr vert="horz" wrap="square" lIns="0" tIns="0" rIns="0" bIns="0" rtlCol="0">
            <a:noAutofit/>
          </a:bodyPr>
          <a:lstStyle/>
          <a:p>
            <a:r>
              <a:rPr lang="uk-UA" sz="2500" b="1">
                <a:solidFill>
                  <a:srgbClr val="111111"/>
                </a:solidFill>
                <a:latin typeface="Aptos" panose="020B0004020202020204" pitchFamily="34" charset="0"/>
              </a:rPr>
              <a:t>18</a:t>
            </a:r>
          </a:p>
        </p:txBody>
      </p:sp>
      <p:sp>
        <p:nvSpPr>
          <p:cNvPr id="18" name="TextBox 17">
            <a:extLst>
              <a:ext uri="{FF2B5EF4-FFF2-40B4-BE49-F238E27FC236}">
                <a16:creationId xmlns:a16="http://schemas.microsoft.com/office/drawing/2014/main" id="{CB1F780D-F836-2D0F-B963-846AA2A5A61D}"/>
              </a:ext>
            </a:extLst>
          </p:cNvPr>
          <p:cNvSpPr txBox="1"/>
          <p:nvPr/>
        </p:nvSpPr>
        <p:spPr>
          <a:xfrm>
            <a:off x="4876800" y="4381499"/>
            <a:ext cx="1651000" cy="431800"/>
          </a:xfrm>
          <a:prstGeom prst="rect">
            <a:avLst/>
          </a:prstGeom>
          <a:noFill/>
        </p:spPr>
        <p:txBody>
          <a:bodyPr vert="horz" wrap="square" lIns="0" tIns="0" rIns="0" bIns="0" rtlCol="0">
            <a:noAutofit/>
          </a:bodyPr>
          <a:lstStyle/>
          <a:p>
            <a:r>
              <a:rPr lang="en-US" sz="1050">
                <a:solidFill>
                  <a:srgbClr val="5C5C57"/>
                </a:solidFill>
                <a:latin typeface="Aptos" panose="020B0004020202020204" pitchFamily="34" charset="0"/>
              </a:rPr>
              <a:t>Months on record</a:t>
            </a:r>
            <a:endParaRPr lang="uk-UA" sz="1050">
              <a:solidFill>
                <a:srgbClr val="5C5C57"/>
              </a:solidFill>
              <a:latin typeface="Aptos" panose="020B0004020202020204" pitchFamily="34" charset="0"/>
            </a:endParaRPr>
          </a:p>
        </p:txBody>
      </p:sp>
      <p:cxnSp>
        <p:nvCxnSpPr>
          <p:cNvPr id="19" name="Straight Connector 18">
            <a:extLst>
              <a:ext uri="{FF2B5EF4-FFF2-40B4-BE49-F238E27FC236}">
                <a16:creationId xmlns:a16="http://schemas.microsoft.com/office/drawing/2014/main" id="{18CC718F-A899-4083-FE17-A84BD0DBD245}"/>
              </a:ext>
            </a:extLst>
          </p:cNvPr>
          <p:cNvCxnSpPr/>
          <p:nvPr/>
        </p:nvCxnSpPr>
        <p:spPr>
          <a:xfrm>
            <a:off x="2705100" y="3771900"/>
            <a:ext cx="0" cy="111760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9A28C25-97F9-9A7E-4BA8-3733EAF9B737}"/>
              </a:ext>
            </a:extLst>
          </p:cNvPr>
          <p:cNvCxnSpPr/>
          <p:nvPr/>
        </p:nvCxnSpPr>
        <p:spPr>
          <a:xfrm>
            <a:off x="4660900" y="3771900"/>
            <a:ext cx="0" cy="111760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4C46AADE-D4E0-D503-5A5F-93B414C44E52}"/>
              </a:ext>
            </a:extLst>
          </p:cNvPr>
          <p:cNvSpPr txBox="1"/>
          <p:nvPr/>
        </p:nvSpPr>
        <p:spPr>
          <a:xfrm>
            <a:off x="7721600" y="1917700"/>
            <a:ext cx="3302000" cy="215900"/>
          </a:xfrm>
          <a:prstGeom prst="rect">
            <a:avLst/>
          </a:prstGeom>
          <a:noFill/>
        </p:spPr>
        <p:txBody>
          <a:bodyPr vert="horz" wrap="square" lIns="0" tIns="0" rIns="0" bIns="0" rtlCol="0">
            <a:noAutofit/>
          </a:bodyPr>
          <a:lstStyle/>
          <a:p>
            <a:r>
              <a:rPr lang="en-US" sz="1000" b="1">
                <a:solidFill>
                  <a:srgbClr val="C2330C"/>
                </a:solidFill>
                <a:latin typeface="Aptos" panose="020B0004020202020204" pitchFamily="34" charset="0"/>
              </a:rPr>
              <a:t>IMMUTABLE</a:t>
            </a:r>
            <a:endParaRPr lang="uk-UA" sz="1000" b="1">
              <a:solidFill>
                <a:srgbClr val="C2330C"/>
              </a:solidFill>
              <a:latin typeface="Aptos" panose="020B0004020202020204" pitchFamily="34" charset="0"/>
            </a:endParaRPr>
          </a:p>
        </p:txBody>
      </p:sp>
      <p:sp>
        <p:nvSpPr>
          <p:cNvPr id="22" name="TextBox 21">
            <a:extLst>
              <a:ext uri="{FF2B5EF4-FFF2-40B4-BE49-F238E27FC236}">
                <a16:creationId xmlns:a16="http://schemas.microsoft.com/office/drawing/2014/main" id="{3F7B3CC9-795F-4156-C5A8-2505F5F90D1C}"/>
              </a:ext>
            </a:extLst>
          </p:cNvPr>
          <p:cNvSpPr txBox="1"/>
          <p:nvPr/>
        </p:nvSpPr>
        <p:spPr>
          <a:xfrm>
            <a:off x="7721600" y="2260599"/>
            <a:ext cx="3505200" cy="457200"/>
          </a:xfrm>
          <a:prstGeom prst="rect">
            <a:avLst/>
          </a:prstGeom>
          <a:noFill/>
        </p:spPr>
        <p:txBody>
          <a:bodyPr vert="horz" wrap="square" lIns="0" tIns="0" rIns="0" bIns="0" rtlCol="0">
            <a:noAutofit/>
          </a:bodyPr>
          <a:lstStyle/>
          <a:p>
            <a:r>
              <a:rPr lang="en-US" sz="1400">
                <a:solidFill>
                  <a:srgbClr val="111111"/>
                </a:solidFill>
                <a:latin typeface="Aptos" panose="020B0004020202020204" pitchFamily="34" charset="0"/>
              </a:rPr>
              <a:t>The outcome cannot be rewritten</a:t>
            </a:r>
            <a:endParaRPr lang="uk-UA" sz="1400">
              <a:solidFill>
                <a:srgbClr val="111111"/>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D5B42ED9-D5F2-F7A3-D658-4732182D1422}"/>
              </a:ext>
            </a:extLst>
          </p:cNvPr>
          <p:cNvCxnSpPr/>
          <p:nvPr/>
        </p:nvCxnSpPr>
        <p:spPr>
          <a:xfrm>
            <a:off x="7721600" y="2857500"/>
            <a:ext cx="3454400" cy="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28F151A-0874-03B8-B18A-DF9DA193E058}"/>
              </a:ext>
            </a:extLst>
          </p:cNvPr>
          <p:cNvSpPr txBox="1"/>
          <p:nvPr/>
        </p:nvSpPr>
        <p:spPr>
          <a:xfrm>
            <a:off x="7721600" y="3136900"/>
            <a:ext cx="3302000" cy="215900"/>
          </a:xfrm>
          <a:prstGeom prst="rect">
            <a:avLst/>
          </a:prstGeom>
          <a:noFill/>
        </p:spPr>
        <p:txBody>
          <a:bodyPr vert="horz" wrap="square" lIns="0" tIns="0" rIns="0" bIns="0" rtlCol="0">
            <a:noAutofit/>
          </a:bodyPr>
          <a:lstStyle/>
          <a:p>
            <a:r>
              <a:rPr lang="en-US" sz="1000" b="1">
                <a:solidFill>
                  <a:srgbClr val="C2330C"/>
                </a:solidFill>
                <a:latin typeface="Aptos" panose="020B0004020202020204" pitchFamily="34" charset="0"/>
              </a:rPr>
              <a:t>PORTABLE</a:t>
            </a:r>
            <a:endParaRPr lang="uk-UA" sz="1000" b="1">
              <a:solidFill>
                <a:srgbClr val="C2330C"/>
              </a:solidFill>
              <a:latin typeface="Aptos" panose="020B0004020202020204" pitchFamily="34" charset="0"/>
            </a:endParaRPr>
          </a:p>
        </p:txBody>
      </p:sp>
      <p:sp>
        <p:nvSpPr>
          <p:cNvPr id="25" name="TextBox 24">
            <a:extLst>
              <a:ext uri="{FF2B5EF4-FFF2-40B4-BE49-F238E27FC236}">
                <a16:creationId xmlns:a16="http://schemas.microsoft.com/office/drawing/2014/main" id="{B2AFE0D2-BA64-68B4-4ED4-54280E036AE0}"/>
              </a:ext>
            </a:extLst>
          </p:cNvPr>
          <p:cNvSpPr txBox="1"/>
          <p:nvPr/>
        </p:nvSpPr>
        <p:spPr>
          <a:xfrm>
            <a:off x="7721600" y="3479799"/>
            <a:ext cx="3505200" cy="457200"/>
          </a:xfrm>
          <a:prstGeom prst="rect">
            <a:avLst/>
          </a:prstGeom>
          <a:noFill/>
        </p:spPr>
        <p:txBody>
          <a:bodyPr vert="horz" wrap="square" lIns="0" tIns="0" rIns="0" bIns="0" rtlCol="0">
            <a:noAutofit/>
          </a:bodyPr>
          <a:lstStyle/>
          <a:p>
            <a:r>
              <a:rPr lang="en-US" sz="1400">
                <a:solidFill>
                  <a:srgbClr val="111111"/>
                </a:solidFill>
                <a:latin typeface="Aptos" panose="020B0004020202020204" pitchFamily="34" charset="0"/>
              </a:rPr>
              <a:t>Works across landlords and borders</a:t>
            </a:r>
            <a:endParaRPr lang="uk-UA" sz="1400">
              <a:solidFill>
                <a:srgbClr val="111111"/>
              </a:solidFill>
              <a:latin typeface="Aptos" panose="020B0004020202020204" pitchFamily="34" charset="0"/>
            </a:endParaRPr>
          </a:p>
        </p:txBody>
      </p:sp>
      <p:cxnSp>
        <p:nvCxnSpPr>
          <p:cNvPr id="26" name="Straight Connector 25">
            <a:extLst>
              <a:ext uri="{FF2B5EF4-FFF2-40B4-BE49-F238E27FC236}">
                <a16:creationId xmlns:a16="http://schemas.microsoft.com/office/drawing/2014/main" id="{3572F626-0CE6-CCE4-A8BE-42A2F7A82393}"/>
              </a:ext>
            </a:extLst>
          </p:cNvPr>
          <p:cNvCxnSpPr/>
          <p:nvPr/>
        </p:nvCxnSpPr>
        <p:spPr>
          <a:xfrm>
            <a:off x="7721600" y="4076700"/>
            <a:ext cx="3454400" cy="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CFED19B-02DC-A32B-ED09-75099F7D871D}"/>
              </a:ext>
            </a:extLst>
          </p:cNvPr>
          <p:cNvSpPr txBox="1"/>
          <p:nvPr/>
        </p:nvSpPr>
        <p:spPr>
          <a:xfrm>
            <a:off x="7721600" y="4356100"/>
            <a:ext cx="3302000" cy="215900"/>
          </a:xfrm>
          <a:prstGeom prst="rect">
            <a:avLst/>
          </a:prstGeom>
          <a:noFill/>
        </p:spPr>
        <p:txBody>
          <a:bodyPr vert="horz" wrap="square" lIns="0" tIns="0" rIns="0" bIns="0" rtlCol="0">
            <a:noAutofit/>
          </a:bodyPr>
          <a:lstStyle/>
          <a:p>
            <a:r>
              <a:rPr lang="en-US" sz="1000" b="1">
                <a:solidFill>
                  <a:srgbClr val="C2330C"/>
                </a:solidFill>
                <a:latin typeface="Aptos" panose="020B0004020202020204" pitchFamily="34" charset="0"/>
              </a:rPr>
              <a:t>PRIVATE BY DESIGN</a:t>
            </a:r>
            <a:endParaRPr lang="uk-UA" sz="1000" b="1">
              <a:solidFill>
                <a:srgbClr val="C2330C"/>
              </a:solidFill>
              <a:latin typeface="Aptos" panose="020B0004020202020204" pitchFamily="34" charset="0"/>
            </a:endParaRPr>
          </a:p>
        </p:txBody>
      </p:sp>
      <p:sp>
        <p:nvSpPr>
          <p:cNvPr id="28" name="TextBox 27">
            <a:extLst>
              <a:ext uri="{FF2B5EF4-FFF2-40B4-BE49-F238E27FC236}">
                <a16:creationId xmlns:a16="http://schemas.microsoft.com/office/drawing/2014/main" id="{1A83096E-2B7A-B706-EE87-0224B765BFD8}"/>
              </a:ext>
            </a:extLst>
          </p:cNvPr>
          <p:cNvSpPr txBox="1"/>
          <p:nvPr/>
        </p:nvSpPr>
        <p:spPr>
          <a:xfrm>
            <a:off x="7721600" y="4698999"/>
            <a:ext cx="3505200" cy="457200"/>
          </a:xfrm>
          <a:prstGeom prst="rect">
            <a:avLst/>
          </a:prstGeom>
          <a:noFill/>
        </p:spPr>
        <p:txBody>
          <a:bodyPr vert="horz" wrap="square" lIns="0" tIns="0" rIns="0" bIns="0" rtlCol="0">
            <a:noAutofit/>
          </a:bodyPr>
          <a:lstStyle/>
          <a:p>
            <a:r>
              <a:rPr lang="en-US" sz="1400">
                <a:solidFill>
                  <a:srgbClr val="111111"/>
                </a:solidFill>
                <a:latin typeface="Aptos" panose="020B0004020202020204" pitchFamily="34" charset="0"/>
              </a:rPr>
              <a:t>Public summary, no bank statement</a:t>
            </a:r>
            <a:endParaRPr lang="uk-UA" sz="1400">
              <a:solidFill>
                <a:srgbClr val="111111"/>
              </a:solidFill>
              <a:latin typeface="Aptos" panose="020B0004020202020204" pitchFamily="34" charset="0"/>
            </a:endParaRPr>
          </a:p>
        </p:txBody>
      </p:sp>
    </p:spTree>
    <p:extLst>
      <p:ext uri="{BB962C8B-B14F-4D97-AF65-F5344CB8AC3E}">
        <p14:creationId xmlns:p14="http://schemas.microsoft.com/office/powerpoint/2010/main" val="2352460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59E270-0811-BCC4-FE19-5EB0FF43A877}"/>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C23D1E6-2F1E-CB87-9864-0DF045A53E8C}"/>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3236657C-0642-43A2-2B79-7FC99F9B0C4D}"/>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6</a:t>
            </a:r>
          </a:p>
        </p:txBody>
      </p:sp>
      <p:sp>
        <p:nvSpPr>
          <p:cNvPr id="5" name="TextBox 4">
            <a:extLst>
              <a:ext uri="{FF2B5EF4-FFF2-40B4-BE49-F238E27FC236}">
                <a16:creationId xmlns:a16="http://schemas.microsoft.com/office/drawing/2014/main" id="{DAFDEC8E-A662-1614-2DEB-14F49AB58769}"/>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WHY BLOCKCHAIN</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501C1EFF-0762-FC26-0069-932FF9EB60E6}"/>
              </a:ext>
            </a:extLst>
          </p:cNvPr>
          <p:cNvSpPr txBox="1"/>
          <p:nvPr/>
        </p:nvSpPr>
        <p:spPr>
          <a:xfrm>
            <a:off x="571500" y="723899"/>
            <a:ext cx="10922000" cy="889000"/>
          </a:xfrm>
          <a:prstGeom prst="rect">
            <a:avLst/>
          </a:prstGeom>
          <a:noFill/>
        </p:spPr>
        <p:txBody>
          <a:bodyPr vert="horz" wrap="square" lIns="0" tIns="0" rIns="0" bIns="0" rtlCol="0">
            <a:noAutofit/>
          </a:bodyPr>
          <a:lstStyle/>
          <a:p>
            <a:r>
              <a:rPr lang="en-US" sz="3000" b="1">
                <a:solidFill>
                  <a:srgbClr val="111111"/>
                </a:solidFill>
                <a:latin typeface="Aptos" panose="020B0004020202020204" pitchFamily="34" charset="0"/>
              </a:rPr>
              <a:t>The blockchain is the neutral third party.</a:t>
            </a:r>
            <a:endParaRPr lang="uk-UA" sz="3000" b="1">
              <a:solidFill>
                <a:srgbClr val="111111"/>
              </a:solidFill>
              <a:latin typeface="Aptos" panose="020B0004020202020204" pitchFamily="34" charset="0"/>
            </a:endParaRPr>
          </a:p>
        </p:txBody>
      </p:sp>
      <p:sp>
        <p:nvSpPr>
          <p:cNvPr id="7" name="TextBox 6">
            <a:extLst>
              <a:ext uri="{FF2B5EF4-FFF2-40B4-BE49-F238E27FC236}">
                <a16:creationId xmlns:a16="http://schemas.microsoft.com/office/drawing/2014/main" id="{ED2AF4F0-2B08-61C2-BD8F-3518BADF3247}"/>
              </a:ext>
            </a:extLst>
          </p:cNvPr>
          <p:cNvSpPr txBox="1"/>
          <p:nvPr/>
        </p:nvSpPr>
        <p:spPr>
          <a:xfrm>
            <a:off x="660400" y="1917700"/>
            <a:ext cx="406400" cy="2286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01</a:t>
            </a:r>
          </a:p>
        </p:txBody>
      </p:sp>
      <p:sp>
        <p:nvSpPr>
          <p:cNvPr id="8" name="TextBox 7">
            <a:extLst>
              <a:ext uri="{FF2B5EF4-FFF2-40B4-BE49-F238E27FC236}">
                <a16:creationId xmlns:a16="http://schemas.microsoft.com/office/drawing/2014/main" id="{0B1AFC2E-684E-C1AF-585D-03DA1258E9E2}"/>
              </a:ext>
            </a:extLst>
          </p:cNvPr>
          <p:cNvSpPr txBox="1"/>
          <p:nvPr/>
        </p:nvSpPr>
        <p:spPr>
          <a:xfrm>
            <a:off x="1244600" y="1917699"/>
            <a:ext cx="1714500" cy="279400"/>
          </a:xfrm>
          <a:prstGeom prst="rect">
            <a:avLst/>
          </a:prstGeom>
          <a:noFill/>
        </p:spPr>
        <p:txBody>
          <a:bodyPr vert="horz" wrap="square" lIns="0" tIns="0" rIns="0" bIns="0" rtlCol="0">
            <a:noAutofit/>
          </a:bodyPr>
          <a:lstStyle/>
          <a:p>
            <a:r>
              <a:rPr lang="en-US" sz="1400" b="1">
                <a:solidFill>
                  <a:srgbClr val="111111"/>
                </a:solidFill>
                <a:latin typeface="Aptos" panose="020B0004020202020204" pitchFamily="34" charset="0"/>
              </a:rPr>
              <a:t>ESCROW</a:t>
            </a:r>
            <a:endParaRPr lang="uk-UA" sz="1400" b="1">
              <a:solidFill>
                <a:srgbClr val="111111"/>
              </a:solidFill>
              <a:latin typeface="Aptos" panose="020B0004020202020204" pitchFamily="34" charset="0"/>
            </a:endParaRPr>
          </a:p>
        </p:txBody>
      </p:sp>
      <p:sp>
        <p:nvSpPr>
          <p:cNvPr id="9" name="TextBox 8">
            <a:extLst>
              <a:ext uri="{FF2B5EF4-FFF2-40B4-BE49-F238E27FC236}">
                <a16:creationId xmlns:a16="http://schemas.microsoft.com/office/drawing/2014/main" id="{58F2A3D2-95B2-A607-3364-309015FF518E}"/>
              </a:ext>
            </a:extLst>
          </p:cNvPr>
          <p:cNvSpPr txBox="1"/>
          <p:nvPr/>
        </p:nvSpPr>
        <p:spPr>
          <a:xfrm>
            <a:off x="2921000" y="1917699"/>
            <a:ext cx="4572000" cy="457200"/>
          </a:xfrm>
          <a:prstGeom prst="rect">
            <a:avLst/>
          </a:prstGeom>
          <a:noFill/>
        </p:spPr>
        <p:txBody>
          <a:bodyPr vert="horz" wrap="square" lIns="0" tIns="0" rIns="0" bIns="0" rtlCol="0">
            <a:noAutofit/>
          </a:bodyPr>
          <a:lstStyle/>
          <a:p>
            <a:r>
              <a:rPr lang="en-US" sz="1350">
                <a:solidFill>
                  <a:srgbClr val="5C5C57"/>
                </a:solidFill>
                <a:latin typeface="Aptos" panose="020B0004020202020204" pitchFamily="34" charset="0"/>
              </a:rPr>
              <a:t>Funds follow contract rules вЂ” not platform discretion.</a:t>
            </a:r>
            <a:endParaRPr lang="uk-UA" sz="1350">
              <a:solidFill>
                <a:srgbClr val="5C5C57"/>
              </a:solidFill>
              <a:latin typeface="Aptos" panose="020B0004020202020204" pitchFamily="34" charset="0"/>
            </a:endParaRPr>
          </a:p>
        </p:txBody>
      </p:sp>
      <p:cxnSp>
        <p:nvCxnSpPr>
          <p:cNvPr id="10" name="Straight Connector 9">
            <a:extLst>
              <a:ext uri="{FF2B5EF4-FFF2-40B4-BE49-F238E27FC236}">
                <a16:creationId xmlns:a16="http://schemas.microsoft.com/office/drawing/2014/main" id="{14D3E999-1CB3-9585-5B33-BD45476E3933}"/>
              </a:ext>
            </a:extLst>
          </p:cNvPr>
          <p:cNvCxnSpPr/>
          <p:nvPr/>
        </p:nvCxnSpPr>
        <p:spPr>
          <a:xfrm>
            <a:off x="660400" y="2603500"/>
            <a:ext cx="6832600" cy="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2FBFF5F-90B7-3951-06CC-E61B34262BAF}"/>
              </a:ext>
            </a:extLst>
          </p:cNvPr>
          <p:cNvSpPr txBox="1"/>
          <p:nvPr/>
        </p:nvSpPr>
        <p:spPr>
          <a:xfrm>
            <a:off x="660400" y="2984500"/>
            <a:ext cx="406400" cy="2286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02</a:t>
            </a:r>
          </a:p>
        </p:txBody>
      </p:sp>
      <p:sp>
        <p:nvSpPr>
          <p:cNvPr id="12" name="TextBox 11">
            <a:extLst>
              <a:ext uri="{FF2B5EF4-FFF2-40B4-BE49-F238E27FC236}">
                <a16:creationId xmlns:a16="http://schemas.microsoft.com/office/drawing/2014/main" id="{9D5D1CEC-5B81-27F7-3A60-7EA0F378797C}"/>
              </a:ext>
            </a:extLst>
          </p:cNvPr>
          <p:cNvSpPr txBox="1"/>
          <p:nvPr/>
        </p:nvSpPr>
        <p:spPr>
          <a:xfrm>
            <a:off x="1244600" y="2984499"/>
            <a:ext cx="1714500" cy="279400"/>
          </a:xfrm>
          <a:prstGeom prst="rect">
            <a:avLst/>
          </a:prstGeom>
          <a:noFill/>
        </p:spPr>
        <p:txBody>
          <a:bodyPr vert="horz" wrap="square" lIns="0" tIns="0" rIns="0" bIns="0" rtlCol="0">
            <a:noAutofit/>
          </a:bodyPr>
          <a:lstStyle/>
          <a:p>
            <a:r>
              <a:rPr lang="en-US" sz="1400" b="1">
                <a:solidFill>
                  <a:srgbClr val="111111"/>
                </a:solidFill>
                <a:latin typeface="Aptos" panose="020B0004020202020204" pitchFamily="34" charset="0"/>
              </a:rPr>
              <a:t>EVIDENCE</a:t>
            </a:r>
            <a:endParaRPr lang="uk-UA" sz="1400" b="1">
              <a:solidFill>
                <a:srgbClr val="111111"/>
              </a:solidFill>
              <a:latin typeface="Aptos" panose="020B0004020202020204" pitchFamily="34" charset="0"/>
            </a:endParaRPr>
          </a:p>
        </p:txBody>
      </p:sp>
      <p:sp>
        <p:nvSpPr>
          <p:cNvPr id="13" name="TextBox 12">
            <a:extLst>
              <a:ext uri="{FF2B5EF4-FFF2-40B4-BE49-F238E27FC236}">
                <a16:creationId xmlns:a16="http://schemas.microsoft.com/office/drawing/2014/main" id="{B3EADCB7-B201-D93C-FE92-EDF75244A437}"/>
              </a:ext>
            </a:extLst>
          </p:cNvPr>
          <p:cNvSpPr txBox="1"/>
          <p:nvPr/>
        </p:nvSpPr>
        <p:spPr>
          <a:xfrm>
            <a:off x="2921000" y="2984499"/>
            <a:ext cx="4572000" cy="457200"/>
          </a:xfrm>
          <a:prstGeom prst="rect">
            <a:avLst/>
          </a:prstGeom>
          <a:noFill/>
        </p:spPr>
        <p:txBody>
          <a:bodyPr vert="horz" wrap="square" lIns="0" tIns="0" rIns="0" bIns="0" rtlCol="0">
            <a:noAutofit/>
          </a:bodyPr>
          <a:lstStyle/>
          <a:p>
            <a:r>
              <a:rPr lang="en-US" sz="1350">
                <a:solidFill>
                  <a:srgbClr val="5C5C57"/>
                </a:solidFill>
                <a:latin typeface="Aptos" panose="020B0004020202020204" pitchFamily="34" charset="0"/>
              </a:rPr>
              <a:t>Lease outcomes are independently verifiable.</a:t>
            </a:r>
            <a:endParaRPr lang="uk-UA" sz="1350">
              <a:solidFill>
                <a:srgbClr val="5C5C57"/>
              </a:solidFill>
              <a:latin typeface="Aptos" panose="020B0004020202020204" pitchFamily="34" charset="0"/>
            </a:endParaRPr>
          </a:p>
        </p:txBody>
      </p:sp>
      <p:cxnSp>
        <p:nvCxnSpPr>
          <p:cNvPr id="14" name="Straight Connector 13">
            <a:extLst>
              <a:ext uri="{FF2B5EF4-FFF2-40B4-BE49-F238E27FC236}">
                <a16:creationId xmlns:a16="http://schemas.microsoft.com/office/drawing/2014/main" id="{5D6F7421-3876-A575-147E-033385735172}"/>
              </a:ext>
            </a:extLst>
          </p:cNvPr>
          <p:cNvCxnSpPr/>
          <p:nvPr/>
        </p:nvCxnSpPr>
        <p:spPr>
          <a:xfrm>
            <a:off x="660400" y="3670300"/>
            <a:ext cx="6832600" cy="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527BEC0-2E19-A991-0715-71791751934C}"/>
              </a:ext>
            </a:extLst>
          </p:cNvPr>
          <p:cNvSpPr txBox="1"/>
          <p:nvPr/>
        </p:nvSpPr>
        <p:spPr>
          <a:xfrm>
            <a:off x="660400" y="4051300"/>
            <a:ext cx="406400" cy="228600"/>
          </a:xfrm>
          <a:prstGeom prst="rect">
            <a:avLst/>
          </a:prstGeom>
          <a:noFill/>
        </p:spPr>
        <p:txBody>
          <a:bodyPr vert="horz" wrap="square" lIns="0" tIns="0" rIns="0" bIns="0" rtlCol="0">
            <a:noAutofit/>
          </a:bodyPr>
          <a:lstStyle/>
          <a:p>
            <a:r>
              <a:rPr lang="uk-UA" sz="900" b="1">
                <a:solidFill>
                  <a:srgbClr val="C2330C"/>
                </a:solidFill>
                <a:latin typeface="Aptos" panose="020B0004020202020204" pitchFamily="34" charset="0"/>
              </a:rPr>
              <a:t>03</a:t>
            </a:r>
          </a:p>
        </p:txBody>
      </p:sp>
      <p:sp>
        <p:nvSpPr>
          <p:cNvPr id="16" name="TextBox 15">
            <a:extLst>
              <a:ext uri="{FF2B5EF4-FFF2-40B4-BE49-F238E27FC236}">
                <a16:creationId xmlns:a16="http://schemas.microsoft.com/office/drawing/2014/main" id="{D78D056F-5C92-9528-286E-C654EE985576}"/>
              </a:ext>
            </a:extLst>
          </p:cNvPr>
          <p:cNvSpPr txBox="1"/>
          <p:nvPr/>
        </p:nvSpPr>
        <p:spPr>
          <a:xfrm>
            <a:off x="1244600" y="4051299"/>
            <a:ext cx="1714500" cy="279400"/>
          </a:xfrm>
          <a:prstGeom prst="rect">
            <a:avLst/>
          </a:prstGeom>
          <a:noFill/>
        </p:spPr>
        <p:txBody>
          <a:bodyPr vert="horz" wrap="square" lIns="0" tIns="0" rIns="0" bIns="0" rtlCol="0">
            <a:noAutofit/>
          </a:bodyPr>
          <a:lstStyle/>
          <a:p>
            <a:r>
              <a:rPr lang="en-US" sz="1400" b="1">
                <a:solidFill>
                  <a:srgbClr val="111111"/>
                </a:solidFill>
                <a:latin typeface="Aptos" panose="020B0004020202020204" pitchFamily="34" charset="0"/>
              </a:rPr>
              <a:t>CONTINUITY</a:t>
            </a:r>
            <a:endParaRPr lang="uk-UA" sz="1400" b="1">
              <a:solidFill>
                <a:srgbClr val="111111"/>
              </a:solidFill>
              <a:latin typeface="Aptos" panose="020B0004020202020204" pitchFamily="34" charset="0"/>
            </a:endParaRPr>
          </a:p>
        </p:txBody>
      </p:sp>
      <p:sp>
        <p:nvSpPr>
          <p:cNvPr id="17" name="TextBox 16">
            <a:extLst>
              <a:ext uri="{FF2B5EF4-FFF2-40B4-BE49-F238E27FC236}">
                <a16:creationId xmlns:a16="http://schemas.microsoft.com/office/drawing/2014/main" id="{F1F75A1A-B834-8691-BEC4-77299554CC47}"/>
              </a:ext>
            </a:extLst>
          </p:cNvPr>
          <p:cNvSpPr txBox="1"/>
          <p:nvPr/>
        </p:nvSpPr>
        <p:spPr>
          <a:xfrm>
            <a:off x="2921000" y="4051299"/>
            <a:ext cx="4572000" cy="457200"/>
          </a:xfrm>
          <a:prstGeom prst="rect">
            <a:avLst/>
          </a:prstGeom>
          <a:noFill/>
        </p:spPr>
        <p:txBody>
          <a:bodyPr vert="horz" wrap="square" lIns="0" tIns="0" rIns="0" bIns="0" rtlCol="0">
            <a:noAutofit/>
          </a:bodyPr>
          <a:lstStyle/>
          <a:p>
            <a:r>
              <a:rPr lang="en-US" sz="1350">
                <a:solidFill>
                  <a:srgbClr val="5C5C57"/>
                </a:solidFill>
                <a:latin typeface="Aptos" panose="020B0004020202020204" pitchFamily="34" charset="0"/>
              </a:rPr>
              <a:t>The passport survives any company or database.</a:t>
            </a:r>
            <a:endParaRPr lang="uk-UA" sz="1350">
              <a:solidFill>
                <a:srgbClr val="5C5C57"/>
              </a:solidFill>
              <a:latin typeface="Aptos" panose="020B0004020202020204" pitchFamily="34" charset="0"/>
            </a:endParaRPr>
          </a:p>
        </p:txBody>
      </p:sp>
      <p:cxnSp>
        <p:nvCxnSpPr>
          <p:cNvPr id="18" name="Straight Connector 17">
            <a:extLst>
              <a:ext uri="{FF2B5EF4-FFF2-40B4-BE49-F238E27FC236}">
                <a16:creationId xmlns:a16="http://schemas.microsoft.com/office/drawing/2014/main" id="{D50FD378-DDBB-87CA-C0BE-0B2851EBA183}"/>
              </a:ext>
            </a:extLst>
          </p:cNvPr>
          <p:cNvCxnSpPr/>
          <p:nvPr/>
        </p:nvCxnSpPr>
        <p:spPr>
          <a:xfrm>
            <a:off x="660400" y="4737100"/>
            <a:ext cx="6832600" cy="0"/>
          </a:xfrm>
          <a:prstGeom prst="line">
            <a:avLst/>
          </a:prstGeom>
          <a:ln w="8890">
            <a:solidFill>
              <a:srgbClr val="E2E2DC"/>
            </a:solidFill>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30C3E2D1-52D6-DFAB-8353-28745D410291}"/>
              </a:ext>
            </a:extLst>
          </p:cNvPr>
          <p:cNvSpPr/>
          <p:nvPr/>
        </p:nvSpPr>
        <p:spPr>
          <a:xfrm>
            <a:off x="8039100" y="1727200"/>
            <a:ext cx="3530600" cy="3581400"/>
          </a:xfrm>
          <a:prstGeom prst="roundRect">
            <a:avLst/>
          </a:prstGeom>
          <a:solidFill>
            <a:srgbClr val="181818"/>
          </a:solidFill>
          <a:ln w="9525">
            <a:solidFill>
              <a:srgbClr val="1818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0" name="TextBox 19">
            <a:extLst>
              <a:ext uri="{FF2B5EF4-FFF2-40B4-BE49-F238E27FC236}">
                <a16:creationId xmlns:a16="http://schemas.microsoft.com/office/drawing/2014/main" id="{7DCCBE8D-FDC4-EEEF-7E1D-3A1B105557D4}"/>
              </a:ext>
            </a:extLst>
          </p:cNvPr>
          <p:cNvSpPr txBox="1"/>
          <p:nvPr/>
        </p:nvSpPr>
        <p:spPr>
          <a:xfrm>
            <a:off x="8356600" y="2032000"/>
            <a:ext cx="1905000" cy="215900"/>
          </a:xfrm>
          <a:prstGeom prst="rect">
            <a:avLst/>
          </a:prstGeom>
          <a:noFill/>
        </p:spPr>
        <p:txBody>
          <a:bodyPr vert="horz" wrap="square" lIns="0" tIns="0" rIns="0" bIns="0" rtlCol="0">
            <a:noAutofit/>
          </a:bodyPr>
          <a:lstStyle/>
          <a:p>
            <a:r>
              <a:rPr lang="en-US" sz="900" b="1">
                <a:solidFill>
                  <a:srgbClr val="FF4A1C"/>
                </a:solidFill>
                <a:latin typeface="Aptos" panose="020B0004020202020204" pitchFamily="34" charset="0"/>
              </a:rPr>
              <a:t>LIVE MVP</a:t>
            </a:r>
            <a:endParaRPr lang="uk-UA" sz="900" b="1">
              <a:solidFill>
                <a:srgbClr val="FF4A1C"/>
              </a:solidFill>
              <a:latin typeface="Aptos" panose="020B0004020202020204" pitchFamily="34" charset="0"/>
            </a:endParaRPr>
          </a:p>
        </p:txBody>
      </p:sp>
      <p:sp>
        <p:nvSpPr>
          <p:cNvPr id="21" name="TextBox 20">
            <a:extLst>
              <a:ext uri="{FF2B5EF4-FFF2-40B4-BE49-F238E27FC236}">
                <a16:creationId xmlns:a16="http://schemas.microsoft.com/office/drawing/2014/main" id="{B063A2C6-2D84-98BC-D821-96B42D6DE6BC}"/>
              </a:ext>
            </a:extLst>
          </p:cNvPr>
          <p:cNvSpPr txBox="1"/>
          <p:nvPr/>
        </p:nvSpPr>
        <p:spPr>
          <a:xfrm>
            <a:off x="8356600" y="2552699"/>
            <a:ext cx="2794000" cy="381000"/>
          </a:xfrm>
          <a:prstGeom prst="rect">
            <a:avLst/>
          </a:prstGeom>
          <a:noFill/>
        </p:spPr>
        <p:txBody>
          <a:bodyPr vert="horz" wrap="square" lIns="0" tIns="0" rIns="0" bIns="0" rtlCol="0">
            <a:noAutofit/>
          </a:bodyPr>
          <a:lstStyle/>
          <a:p>
            <a:r>
              <a:rPr lang="en-US" sz="2100" b="1">
                <a:solidFill>
                  <a:srgbClr val="FFFFFF"/>
                </a:solidFill>
                <a:latin typeface="Aptos" panose="020B0004020202020204" pitchFamily="34" charset="0"/>
              </a:rPr>
              <a:t>Anchor + Solana</a:t>
            </a:r>
            <a:endParaRPr lang="uk-UA" sz="2100" b="1">
              <a:solidFill>
                <a:srgbClr val="FFFFFF"/>
              </a:solidFill>
              <a:latin typeface="Aptos" panose="020B0004020202020204" pitchFamily="34" charset="0"/>
            </a:endParaRPr>
          </a:p>
        </p:txBody>
      </p:sp>
      <p:sp>
        <p:nvSpPr>
          <p:cNvPr id="22" name="TextBox 21">
            <a:extLst>
              <a:ext uri="{FF2B5EF4-FFF2-40B4-BE49-F238E27FC236}">
                <a16:creationId xmlns:a16="http://schemas.microsoft.com/office/drawing/2014/main" id="{E0590BD9-2E20-05DC-EC63-BE878FCBF7A8}"/>
              </a:ext>
            </a:extLst>
          </p:cNvPr>
          <p:cNvSpPr txBox="1"/>
          <p:nvPr/>
        </p:nvSpPr>
        <p:spPr>
          <a:xfrm>
            <a:off x="8356600" y="3238499"/>
            <a:ext cx="2743200" cy="1397000"/>
          </a:xfrm>
          <a:prstGeom prst="rect">
            <a:avLst/>
          </a:prstGeom>
          <a:noFill/>
        </p:spPr>
        <p:txBody>
          <a:bodyPr vert="horz" wrap="square" lIns="0" tIns="0" rIns="0" bIns="0" rtlCol="0">
            <a:noAutofit/>
          </a:bodyPr>
          <a:lstStyle/>
          <a:p>
            <a:r>
              <a:rPr lang="uk-UA" sz="1300">
                <a:solidFill>
                  <a:srgbClr val="D5D5CF"/>
                </a:solidFill>
                <a:latin typeface="Aptos" panose="020B0004020202020204" pitchFamily="34" charset="0"/>
              </a:rPr>
              <a:t>вЂў </a:t>
            </a:r>
            <a:r>
              <a:rPr lang="en-US" sz="1300">
                <a:solidFill>
                  <a:srgbClr val="D5D5CF"/>
                </a:solidFill>
                <a:latin typeface="Aptos" panose="020B0004020202020204" pitchFamily="34" charset="0"/>
              </a:rPr>
              <a:t>smart-contract deposit escrow
</a:t>
            </a:r>
            <a:r>
              <a:rPr lang="uk-UA" sz="1300">
                <a:solidFill>
                  <a:srgbClr val="D5D5CF"/>
                </a:solidFill>
                <a:latin typeface="Aptos" panose="020B0004020202020204" pitchFamily="34" charset="0"/>
              </a:rPr>
              <a:t>вЂў </a:t>
            </a:r>
            <a:r>
              <a:rPr lang="en-US" sz="1300">
                <a:solidFill>
                  <a:srgbClr val="D5D5CF"/>
                </a:solidFill>
                <a:latin typeface="Aptos" panose="020B0004020202020204" pitchFamily="34" charset="0"/>
              </a:rPr>
              <a:t>tenant + landlord flow
</a:t>
            </a:r>
            <a:r>
              <a:rPr lang="uk-UA" sz="1300">
                <a:solidFill>
                  <a:srgbClr val="D5D5CF"/>
                </a:solidFill>
                <a:latin typeface="Aptos" panose="020B0004020202020204" pitchFamily="34" charset="0"/>
              </a:rPr>
              <a:t>вЂў </a:t>
            </a:r>
            <a:r>
              <a:rPr lang="en-US" sz="1300">
                <a:solidFill>
                  <a:srgbClr val="D5D5CF"/>
                </a:solidFill>
                <a:latin typeface="Aptos" panose="020B0004020202020204" pitchFamily="34" charset="0"/>
              </a:rPr>
              <a:t>settlement / dispute path
</a:t>
            </a:r>
            <a:r>
              <a:rPr lang="uk-UA" sz="1300">
                <a:solidFill>
                  <a:srgbClr val="D5D5CF"/>
                </a:solidFill>
                <a:latin typeface="Aptos" panose="020B0004020202020204" pitchFamily="34" charset="0"/>
              </a:rPr>
              <a:t>вЂў </a:t>
            </a:r>
            <a:r>
              <a:rPr lang="en-US" sz="1300">
                <a:solidFill>
                  <a:srgbClr val="D5D5CF"/>
                </a:solidFill>
                <a:latin typeface="Aptos" panose="020B0004020202020204" pitchFamily="34" charset="0"/>
              </a:rPr>
              <a:t>public rent passport</a:t>
            </a:r>
            <a:endParaRPr lang="uk-UA" sz="1300">
              <a:solidFill>
                <a:srgbClr val="D5D5CF"/>
              </a:solidFill>
              <a:latin typeface="Aptos" panose="020B0004020202020204" pitchFamily="34" charset="0"/>
            </a:endParaRPr>
          </a:p>
        </p:txBody>
      </p:sp>
      <p:sp>
        <p:nvSpPr>
          <p:cNvPr id="23" name="Rectangle: Rounded Corners 22">
            <a:extLst>
              <a:ext uri="{FF2B5EF4-FFF2-40B4-BE49-F238E27FC236}">
                <a16:creationId xmlns:a16="http://schemas.microsoft.com/office/drawing/2014/main" id="{FA54F1D6-6248-2B35-43EF-446A8FC8CC43}"/>
              </a:ext>
            </a:extLst>
          </p:cNvPr>
          <p:cNvSpPr/>
          <p:nvPr/>
        </p:nvSpPr>
        <p:spPr>
          <a:xfrm>
            <a:off x="8369300" y="4749800"/>
            <a:ext cx="990600" cy="317500"/>
          </a:xfrm>
          <a:prstGeom prst="roundRect">
            <a:avLst/>
          </a:prstGeom>
          <a:solidFill>
            <a:srgbClr val="242421"/>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4" name="TextBox 23">
            <a:extLst>
              <a:ext uri="{FF2B5EF4-FFF2-40B4-BE49-F238E27FC236}">
                <a16:creationId xmlns:a16="http://schemas.microsoft.com/office/drawing/2014/main" id="{457291FC-6283-1435-4CA0-C281A7BE653E}"/>
              </a:ext>
            </a:extLst>
          </p:cNvPr>
          <p:cNvSpPr txBox="1"/>
          <p:nvPr/>
        </p:nvSpPr>
        <p:spPr>
          <a:xfrm>
            <a:off x="8458200" y="4826000"/>
            <a:ext cx="812800" cy="152400"/>
          </a:xfrm>
          <a:prstGeom prst="rect">
            <a:avLst/>
          </a:prstGeom>
          <a:noFill/>
        </p:spPr>
        <p:txBody>
          <a:bodyPr vert="horz" wrap="square" lIns="0" tIns="0" rIns="0" bIns="0" rtlCol="0">
            <a:noAutofit/>
          </a:bodyPr>
          <a:lstStyle/>
          <a:p>
            <a:pPr algn="ctr"/>
            <a:r>
              <a:rPr lang="en-US" sz="850" b="1">
                <a:solidFill>
                  <a:srgbClr val="FFFFFF"/>
                </a:solidFill>
                <a:latin typeface="Aptos" panose="020B0004020202020204" pitchFamily="34" charset="0"/>
              </a:rPr>
              <a:t>DEVNET</a:t>
            </a:r>
            <a:endParaRPr lang="uk-UA" sz="850" b="1">
              <a:solidFill>
                <a:srgbClr val="FFFFFF"/>
              </a:solidFill>
              <a:latin typeface="Aptos" panose="020B0004020202020204" pitchFamily="34" charset="0"/>
            </a:endParaRPr>
          </a:p>
        </p:txBody>
      </p:sp>
      <p:sp>
        <p:nvSpPr>
          <p:cNvPr id="25" name="TextBox 24">
            <a:extLst>
              <a:ext uri="{FF2B5EF4-FFF2-40B4-BE49-F238E27FC236}">
                <a16:creationId xmlns:a16="http://schemas.microsoft.com/office/drawing/2014/main" id="{22D2E086-6F9C-BBD9-863E-C5A841FE6BDF}"/>
              </a:ext>
            </a:extLst>
          </p:cNvPr>
          <p:cNvSpPr txBox="1"/>
          <p:nvPr/>
        </p:nvSpPr>
        <p:spPr>
          <a:xfrm>
            <a:off x="1079500" y="5626099"/>
            <a:ext cx="10033000" cy="571500"/>
          </a:xfrm>
          <a:prstGeom prst="rect">
            <a:avLst/>
          </a:prstGeom>
          <a:noFill/>
        </p:spPr>
        <p:txBody>
          <a:bodyPr vert="horz" wrap="square" lIns="0" tIns="0" rIns="0" bIns="0" rtlCol="0">
            <a:noAutofit/>
          </a:bodyPr>
          <a:lstStyle/>
          <a:p>
            <a:pPr algn="ctr"/>
            <a:r>
              <a:rPr lang="en-US" sz="1900" b="1">
                <a:solidFill>
                  <a:srgbClr val="111111"/>
                </a:solidFill>
                <a:latin typeface="Aptos" panose="020B0004020202020204" pitchFamily="34" charset="0"/>
              </a:rPr>
              <a:t>Bank statements prove payments.
Proof of Rent proves how the lease ended.</a:t>
            </a:r>
            <a:endParaRPr lang="uk-UA" sz="1900" b="1">
              <a:solidFill>
                <a:srgbClr val="111111"/>
              </a:solidFill>
              <a:latin typeface="Aptos" panose="020B0004020202020204" pitchFamily="34" charset="0"/>
            </a:endParaRPr>
          </a:p>
        </p:txBody>
      </p:sp>
    </p:spTree>
    <p:extLst>
      <p:ext uri="{BB962C8B-B14F-4D97-AF65-F5344CB8AC3E}">
        <p14:creationId xmlns:p14="http://schemas.microsoft.com/office/powerpoint/2010/main" val="421886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B835C89-315D-9AC4-5DDA-1C8F8EBADA82}"/>
              </a:ext>
            </a:extLst>
          </p:cNvPr>
          <p:cNvCxnSpPr/>
          <p:nvPr/>
        </p:nvCxnSpPr>
        <p:spPr>
          <a:xfrm>
            <a:off x="558800" y="6502400"/>
            <a:ext cx="11074400" cy="0"/>
          </a:xfrm>
          <a:prstGeom prst="line">
            <a:avLst/>
          </a:prstGeom>
          <a:ln w="7620">
            <a:solidFill>
              <a:srgbClr val="E2E2DC"/>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F690B75-9B9E-CC63-7140-A8A66BEF5548}"/>
              </a:ext>
            </a:extLst>
          </p:cNvPr>
          <p:cNvSpPr txBox="1"/>
          <p:nvPr/>
        </p:nvSpPr>
        <p:spPr>
          <a:xfrm>
            <a:off x="571500" y="6553200"/>
            <a:ext cx="1905000" cy="152400"/>
          </a:xfrm>
          <a:prstGeom prst="rect">
            <a:avLst/>
          </a:prstGeom>
          <a:noFill/>
        </p:spPr>
        <p:txBody>
          <a:bodyPr vert="horz" wrap="square" lIns="0" tIns="0" rIns="0" bIns="0" rtlCol="0">
            <a:noAutofit/>
          </a:bodyPr>
          <a:lstStyle/>
          <a:p>
            <a:r>
              <a:rPr lang="en-US" sz="750" b="1">
                <a:solidFill>
                  <a:srgbClr val="5C5C57"/>
                </a:solidFill>
                <a:latin typeface="Aptos" panose="020B0004020202020204" pitchFamily="34" charset="0"/>
              </a:rPr>
              <a:t>PROOF OF RENT</a:t>
            </a:r>
            <a:endParaRPr lang="uk-UA" sz="750" b="1">
              <a:solidFill>
                <a:srgbClr val="5C5C57"/>
              </a:solidFill>
              <a:latin typeface="Aptos" panose="020B0004020202020204" pitchFamily="34" charset="0"/>
            </a:endParaRPr>
          </a:p>
        </p:txBody>
      </p:sp>
      <p:sp>
        <p:nvSpPr>
          <p:cNvPr id="4" name="TextBox 3">
            <a:extLst>
              <a:ext uri="{FF2B5EF4-FFF2-40B4-BE49-F238E27FC236}">
                <a16:creationId xmlns:a16="http://schemas.microsoft.com/office/drawing/2014/main" id="{BD4BBA10-EDF6-350B-863B-AC487CA1D905}"/>
              </a:ext>
            </a:extLst>
          </p:cNvPr>
          <p:cNvSpPr txBox="1"/>
          <p:nvPr/>
        </p:nvSpPr>
        <p:spPr>
          <a:xfrm>
            <a:off x="11112500" y="6553200"/>
            <a:ext cx="508000" cy="152400"/>
          </a:xfrm>
          <a:prstGeom prst="rect">
            <a:avLst/>
          </a:prstGeom>
          <a:noFill/>
        </p:spPr>
        <p:txBody>
          <a:bodyPr vert="horz" wrap="square" lIns="0" tIns="0" rIns="0" bIns="0" rtlCol="0">
            <a:noAutofit/>
          </a:bodyPr>
          <a:lstStyle/>
          <a:p>
            <a:pPr algn="r"/>
            <a:r>
              <a:rPr lang="uk-UA" sz="800">
                <a:solidFill>
                  <a:srgbClr val="5C5C57"/>
                </a:solidFill>
                <a:latin typeface="Aptos" panose="020B0004020202020204" pitchFamily="34" charset="0"/>
              </a:rPr>
              <a:t>7</a:t>
            </a:r>
          </a:p>
        </p:txBody>
      </p:sp>
      <p:sp>
        <p:nvSpPr>
          <p:cNvPr id="5" name="TextBox 4">
            <a:extLst>
              <a:ext uri="{FF2B5EF4-FFF2-40B4-BE49-F238E27FC236}">
                <a16:creationId xmlns:a16="http://schemas.microsoft.com/office/drawing/2014/main" id="{2B9F8DB6-FB82-B5F5-F0D7-9204C523DBB2}"/>
              </a:ext>
            </a:extLst>
          </p:cNvPr>
          <p:cNvSpPr txBox="1"/>
          <p:nvPr/>
        </p:nvSpPr>
        <p:spPr>
          <a:xfrm>
            <a:off x="571500" y="431800"/>
            <a:ext cx="3048000" cy="228600"/>
          </a:xfrm>
          <a:prstGeom prst="rect">
            <a:avLst/>
          </a:prstGeom>
          <a:noFill/>
        </p:spPr>
        <p:txBody>
          <a:bodyPr vert="horz" wrap="square" lIns="0" tIns="0" rIns="0" bIns="0" rtlCol="0">
            <a:noAutofit/>
          </a:bodyPr>
          <a:lstStyle/>
          <a:p>
            <a:r>
              <a:rPr lang="en-US" sz="900" b="1">
                <a:solidFill>
                  <a:srgbClr val="C2330C"/>
                </a:solidFill>
                <a:latin typeface="Aptos" panose="020B0004020202020204" pitchFamily="34" charset="0"/>
              </a:rPr>
              <a:t>THE OUTCOME</a:t>
            </a:r>
            <a:endParaRPr lang="uk-UA" sz="900" b="1">
              <a:solidFill>
                <a:srgbClr val="C2330C"/>
              </a:solidFill>
              <a:latin typeface="Aptos" panose="020B0004020202020204" pitchFamily="34" charset="0"/>
            </a:endParaRPr>
          </a:p>
        </p:txBody>
      </p:sp>
      <p:sp>
        <p:nvSpPr>
          <p:cNvPr id="6" name="TextBox 5">
            <a:extLst>
              <a:ext uri="{FF2B5EF4-FFF2-40B4-BE49-F238E27FC236}">
                <a16:creationId xmlns:a16="http://schemas.microsoft.com/office/drawing/2014/main" id="{46B5BC3F-7CE2-0E1D-ABBA-569D336B66C4}"/>
              </a:ext>
            </a:extLst>
          </p:cNvPr>
          <p:cNvSpPr txBox="1"/>
          <p:nvPr/>
        </p:nvSpPr>
        <p:spPr>
          <a:xfrm>
            <a:off x="571500" y="1104899"/>
            <a:ext cx="7493000" cy="1270000"/>
          </a:xfrm>
          <a:prstGeom prst="rect">
            <a:avLst/>
          </a:prstGeom>
          <a:noFill/>
        </p:spPr>
        <p:txBody>
          <a:bodyPr vert="horz" wrap="square" lIns="0" tIns="0" rIns="0" bIns="0" rtlCol="0">
            <a:noAutofit/>
          </a:bodyPr>
          <a:lstStyle/>
          <a:p>
            <a:r>
              <a:rPr lang="en-US" sz="3700" b="1">
                <a:solidFill>
                  <a:srgbClr val="111111"/>
                </a:solidFill>
                <a:latin typeface="Aptos" panose="020B0004020202020204" pitchFamily="34" charset="0"/>
              </a:rPr>
              <a:t>Stop asking renters
to start from zero.</a:t>
            </a:r>
            <a:endParaRPr lang="uk-UA" sz="3700" b="1">
              <a:solidFill>
                <a:srgbClr val="111111"/>
              </a:solidFill>
              <a:latin typeface="Aptos" panose="020B0004020202020204" pitchFamily="34" charset="0"/>
            </a:endParaRPr>
          </a:p>
        </p:txBody>
      </p:sp>
      <p:sp>
        <p:nvSpPr>
          <p:cNvPr id="7" name="TextBox 6">
            <a:extLst>
              <a:ext uri="{FF2B5EF4-FFF2-40B4-BE49-F238E27FC236}">
                <a16:creationId xmlns:a16="http://schemas.microsoft.com/office/drawing/2014/main" id="{5B89C19C-BE47-4FA1-B81C-00043A3AA723}"/>
              </a:ext>
            </a:extLst>
          </p:cNvPr>
          <p:cNvSpPr txBox="1"/>
          <p:nvPr/>
        </p:nvSpPr>
        <p:spPr>
          <a:xfrm>
            <a:off x="596900" y="2920999"/>
            <a:ext cx="5715000" cy="889000"/>
          </a:xfrm>
          <a:prstGeom prst="rect">
            <a:avLst/>
          </a:prstGeom>
          <a:noFill/>
        </p:spPr>
        <p:txBody>
          <a:bodyPr vert="horz" wrap="square" lIns="0" tIns="0" rIns="0" bIns="0" rtlCol="0">
            <a:noAutofit/>
          </a:bodyPr>
          <a:lstStyle/>
          <a:p>
            <a:r>
              <a:rPr lang="en-US" sz="2300" b="1">
                <a:solidFill>
                  <a:srgbClr val="C2330C"/>
                </a:solidFill>
                <a:latin typeface="Aptos" panose="020B0004020202020204" pitchFamily="34" charset="0"/>
              </a:rPr>
              <a:t>Protect the deposit today.
Build trust for the next lease.</a:t>
            </a:r>
            <a:endParaRPr lang="uk-UA" sz="2300" b="1">
              <a:solidFill>
                <a:srgbClr val="C2330C"/>
              </a:solidFill>
              <a:latin typeface="Aptos" panose="020B0004020202020204" pitchFamily="34" charset="0"/>
            </a:endParaRPr>
          </a:p>
        </p:txBody>
      </p:sp>
      <p:sp>
        <p:nvSpPr>
          <p:cNvPr id="8" name="Rectangle: Rounded Corners 7">
            <a:extLst>
              <a:ext uri="{FF2B5EF4-FFF2-40B4-BE49-F238E27FC236}">
                <a16:creationId xmlns:a16="http://schemas.microsoft.com/office/drawing/2014/main" id="{2C6579DF-B577-22FE-CA4D-1E7F584681D3}"/>
              </a:ext>
            </a:extLst>
          </p:cNvPr>
          <p:cNvSpPr/>
          <p:nvPr/>
        </p:nvSpPr>
        <p:spPr>
          <a:xfrm>
            <a:off x="7899400" y="2006600"/>
            <a:ext cx="3098800" cy="2082800"/>
          </a:xfrm>
          <a:prstGeom prst="roundRect">
            <a:avLst/>
          </a:prstGeom>
          <a:solidFill>
            <a:srgbClr val="FFFFFF"/>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9" name="TextBox 8">
            <a:extLst>
              <a:ext uri="{FF2B5EF4-FFF2-40B4-BE49-F238E27FC236}">
                <a16:creationId xmlns:a16="http://schemas.microsoft.com/office/drawing/2014/main" id="{08784C44-C21C-52E5-1E32-F22A6DEFFA9A}"/>
              </a:ext>
            </a:extLst>
          </p:cNvPr>
          <p:cNvSpPr txBox="1"/>
          <p:nvPr/>
        </p:nvSpPr>
        <p:spPr>
          <a:xfrm>
            <a:off x="8204200" y="2400300"/>
            <a:ext cx="2413000" cy="215900"/>
          </a:xfrm>
          <a:prstGeom prst="rect">
            <a:avLst/>
          </a:prstGeom>
          <a:noFill/>
        </p:spPr>
        <p:txBody>
          <a:bodyPr vert="horz" wrap="square" lIns="0" tIns="0" rIns="0" bIns="0" rtlCol="0">
            <a:noAutofit/>
          </a:bodyPr>
          <a:lstStyle/>
          <a:p>
            <a:r>
              <a:rPr lang="en-US" sz="1000" b="1">
                <a:solidFill>
                  <a:srgbClr val="5C5C57"/>
                </a:solidFill>
                <a:latin typeface="Aptos" panose="020B0004020202020204" pitchFamily="34" charset="0"/>
              </a:rPr>
              <a:t>YOUR RENT HISTORY.</a:t>
            </a:r>
            <a:endParaRPr lang="uk-UA" sz="1000" b="1">
              <a:solidFill>
                <a:srgbClr val="5C5C57"/>
              </a:solidFill>
              <a:latin typeface="Aptos" panose="020B0004020202020204" pitchFamily="34" charset="0"/>
            </a:endParaRPr>
          </a:p>
        </p:txBody>
      </p:sp>
      <p:sp>
        <p:nvSpPr>
          <p:cNvPr id="10" name="TextBox 9">
            <a:extLst>
              <a:ext uri="{FF2B5EF4-FFF2-40B4-BE49-F238E27FC236}">
                <a16:creationId xmlns:a16="http://schemas.microsoft.com/office/drawing/2014/main" id="{DDDB9BCD-908D-84CD-D8B1-911677252B6C}"/>
              </a:ext>
            </a:extLst>
          </p:cNvPr>
          <p:cNvSpPr txBox="1"/>
          <p:nvPr/>
        </p:nvSpPr>
        <p:spPr>
          <a:xfrm>
            <a:off x="8204200" y="2844799"/>
            <a:ext cx="2159000" cy="457200"/>
          </a:xfrm>
          <a:prstGeom prst="rect">
            <a:avLst/>
          </a:prstGeom>
          <a:noFill/>
        </p:spPr>
        <p:txBody>
          <a:bodyPr vert="horz" wrap="square" lIns="0" tIns="0" rIns="0" bIns="0" rtlCol="0">
            <a:noAutofit/>
          </a:bodyPr>
          <a:lstStyle/>
          <a:p>
            <a:r>
              <a:rPr lang="en-US" sz="2700" b="1">
                <a:solidFill>
                  <a:srgbClr val="111111"/>
                </a:solidFill>
                <a:latin typeface="Aptos" panose="020B0004020202020204" pitchFamily="34" charset="0"/>
              </a:rPr>
              <a:t>Your proof.</a:t>
            </a:r>
            <a:endParaRPr lang="uk-UA" sz="2700" b="1">
              <a:solidFill>
                <a:srgbClr val="111111"/>
              </a:solidFill>
              <a:latin typeface="Aptos" panose="020B0004020202020204" pitchFamily="34" charset="0"/>
            </a:endParaRPr>
          </a:p>
        </p:txBody>
      </p:sp>
      <p:cxnSp>
        <p:nvCxnSpPr>
          <p:cNvPr id="11" name="Straight Connector 10">
            <a:extLst>
              <a:ext uri="{FF2B5EF4-FFF2-40B4-BE49-F238E27FC236}">
                <a16:creationId xmlns:a16="http://schemas.microsoft.com/office/drawing/2014/main" id="{4F86E36B-7C2A-8A2E-7DEF-485F7E4385C2}"/>
              </a:ext>
            </a:extLst>
          </p:cNvPr>
          <p:cNvCxnSpPr/>
          <p:nvPr/>
        </p:nvCxnSpPr>
        <p:spPr>
          <a:xfrm>
            <a:off x="8204200" y="3581400"/>
            <a:ext cx="2159000" cy="0"/>
          </a:xfrm>
          <a:prstGeom prst="line">
            <a:avLst/>
          </a:prstGeom>
          <a:ln w="25400">
            <a:solidFill>
              <a:srgbClr val="FF4A1C"/>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D9A151C-F454-D0A3-C001-47B0BF3710FE}"/>
              </a:ext>
            </a:extLst>
          </p:cNvPr>
          <p:cNvSpPr txBox="1"/>
          <p:nvPr/>
        </p:nvSpPr>
        <p:spPr>
          <a:xfrm>
            <a:off x="596900" y="4800599"/>
            <a:ext cx="2794000" cy="368300"/>
          </a:xfrm>
          <a:prstGeom prst="rect">
            <a:avLst/>
          </a:prstGeom>
          <a:noFill/>
        </p:spPr>
        <p:txBody>
          <a:bodyPr vert="horz" wrap="square" lIns="0" tIns="0" rIns="0" bIns="0" rtlCol="0">
            <a:noAutofit/>
          </a:bodyPr>
          <a:lstStyle/>
          <a:p>
            <a:r>
              <a:rPr lang="en-US" sz="2200" b="1">
                <a:solidFill>
                  <a:srgbClr val="111111"/>
                </a:solidFill>
                <a:latin typeface="Aptos" panose="020B0004020202020204" pitchFamily="34" charset="0"/>
              </a:rPr>
              <a:t>Proof of Rent</a:t>
            </a:r>
            <a:endParaRPr lang="uk-UA" sz="2200" b="1">
              <a:solidFill>
                <a:srgbClr val="111111"/>
              </a:solidFill>
              <a:latin typeface="Aptos" panose="020B0004020202020204" pitchFamily="34" charset="0"/>
            </a:endParaRPr>
          </a:p>
        </p:txBody>
      </p:sp>
      <p:sp>
        <p:nvSpPr>
          <p:cNvPr id="13" name="TextBox 12">
            <a:extLst>
              <a:ext uri="{FF2B5EF4-FFF2-40B4-BE49-F238E27FC236}">
                <a16:creationId xmlns:a16="http://schemas.microsoft.com/office/drawing/2014/main" id="{DA6D4DBD-4B11-555E-5A95-50A63DAD125C}"/>
              </a:ext>
            </a:extLst>
          </p:cNvPr>
          <p:cNvSpPr txBox="1"/>
          <p:nvPr/>
        </p:nvSpPr>
        <p:spPr>
          <a:xfrm>
            <a:off x="609600" y="5257800"/>
            <a:ext cx="3048000" cy="254000"/>
          </a:xfrm>
          <a:prstGeom prst="rect">
            <a:avLst/>
          </a:prstGeom>
          <a:noFill/>
        </p:spPr>
        <p:txBody>
          <a:bodyPr vert="horz" wrap="square" lIns="0" tIns="0" rIns="0" bIns="0" rtlCol="0">
            <a:noAutofit/>
          </a:bodyPr>
          <a:lstStyle/>
          <a:p>
            <a:r>
              <a:rPr lang="en-US" sz="1300">
                <a:solidFill>
                  <a:srgbClr val="5C5C57"/>
                </a:solidFill>
                <a:latin typeface="Aptos" panose="020B0004020202020204" pitchFamily="34" charset="0"/>
              </a:rPr>
              <a:t>Built for renters in Poland.</a:t>
            </a:r>
            <a:endParaRPr lang="uk-UA" sz="1300">
              <a:solidFill>
                <a:srgbClr val="5C5C57"/>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90A41397-599A-DA66-BB4F-5C34355D2859}"/>
              </a:ext>
            </a:extLst>
          </p:cNvPr>
          <p:cNvSpPr/>
          <p:nvPr/>
        </p:nvSpPr>
        <p:spPr>
          <a:xfrm>
            <a:off x="10083800" y="5105400"/>
            <a:ext cx="914400" cy="317500"/>
          </a:xfrm>
          <a:prstGeom prst="roundRect">
            <a:avLst/>
          </a:prstGeom>
          <a:solidFill>
            <a:srgbClr val="FF4A1C"/>
          </a:solidFill>
          <a:ln w="9525">
            <a:solidFill>
              <a:srgbClr val="E2E2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5" name="TextBox 14">
            <a:extLst>
              <a:ext uri="{FF2B5EF4-FFF2-40B4-BE49-F238E27FC236}">
                <a16:creationId xmlns:a16="http://schemas.microsoft.com/office/drawing/2014/main" id="{69679110-841C-DD78-2DD2-7009886430CF}"/>
              </a:ext>
            </a:extLst>
          </p:cNvPr>
          <p:cNvSpPr txBox="1"/>
          <p:nvPr/>
        </p:nvSpPr>
        <p:spPr>
          <a:xfrm>
            <a:off x="10172700" y="5181600"/>
            <a:ext cx="736600" cy="152400"/>
          </a:xfrm>
          <a:prstGeom prst="rect">
            <a:avLst/>
          </a:prstGeom>
          <a:noFill/>
        </p:spPr>
        <p:txBody>
          <a:bodyPr vert="horz" wrap="square" lIns="0" tIns="0" rIns="0" bIns="0" rtlCol="0">
            <a:noAutofit/>
          </a:bodyPr>
          <a:lstStyle/>
          <a:p>
            <a:pPr algn="ctr"/>
            <a:r>
              <a:rPr lang="en-US" sz="850" b="1">
                <a:solidFill>
                  <a:srgbClr val="111111"/>
                </a:solidFill>
                <a:latin typeface="Aptos" panose="020B0004020202020204" pitchFamily="34" charset="0"/>
              </a:rPr>
              <a:t>DEMO</a:t>
            </a:r>
            <a:endParaRPr lang="uk-UA" sz="850" b="1">
              <a:solidFill>
                <a:srgbClr val="111111"/>
              </a:solidFill>
              <a:latin typeface="Aptos" panose="020B0004020202020204" pitchFamily="34" charset="0"/>
            </a:endParaRPr>
          </a:p>
        </p:txBody>
      </p:sp>
    </p:spTree>
    <p:extLst>
      <p:ext uri="{BB962C8B-B14F-4D97-AF65-F5344CB8AC3E}">
        <p14:creationId xmlns:p14="http://schemas.microsoft.com/office/powerpoint/2010/main" val="3266505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778</Words>
  <Application>Microsoft Office PowerPoint</Application>
  <PresentationFormat>Custom</PresentationFormat>
  <Paragraphs>118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Mariia Shpak</dc:creator>
  <cp:lastModifiedBy>Mariia Shpak</cp:lastModifiedBy>
  <cp:revision>1</cp:revision>
  <dcterms:created xsi:type="dcterms:W3CDTF">2026-09-27T12:43:55Z</dcterms:created>
  <dcterms:modified xsi:type="dcterms:W3CDTF">2026-09-27T12:43:55Z</dcterms:modified>
</cp:coreProperties>
</file>